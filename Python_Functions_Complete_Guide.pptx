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6366F1">
              <a:alpha val="12000"/>
            </a:srgbClr>
          </a:solidFill>
          <a:ln w="25400">
            <a:solidFill>
              <a:srgbClr val="6366F1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365760"/>
            <a:ext cx="3200400" cy="3200400"/>
          </a:xfrm>
          <a:prstGeom prst="ellipse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2926080"/>
            <a:ext cx="2743200" cy="2743200"/>
          </a:xfrm>
          <a:prstGeom prst="ellipse">
            <a:avLst/>
          </a:prstGeom>
          <a:solidFill>
            <a:srgbClr val="A855F7">
              <a:alpha val="10000"/>
            </a:srgbClr>
          </a:solidFill>
          <a:ln w="12700">
            <a:solidFill>
              <a:srgbClr val="A855F7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502920"/>
            <a:ext cx="2194560" cy="384048"/>
          </a:xfrm>
          <a:prstGeom prst="rect">
            <a:avLst/>
          </a:prstGeom>
          <a:solidFill>
            <a:srgbClr val="6366F1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5029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PROGRAMMING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7315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8000" dirty="0"/>
          </a:p>
        </p:txBody>
      </p:sp>
      <p:sp>
        <p:nvSpPr>
          <p:cNvPr id="8" name="Shape 6"/>
          <p:cNvSpPr/>
          <p:nvPr/>
        </p:nvSpPr>
        <p:spPr>
          <a:xfrm>
            <a:off x="457200" y="2542032"/>
            <a:ext cx="91440" cy="6858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578608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Zero to Hero — With Real-Life Analogies, Deep Concepts &amp; Practice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57200" y="3401568"/>
            <a:ext cx="1993392" cy="438912"/>
          </a:xfrm>
          <a:prstGeom prst="roundRect">
            <a:avLst>
              <a:gd name="adj" fmla="val 25000"/>
            </a:avLst>
          </a:prstGeom>
          <a:solidFill>
            <a:srgbClr val="1F2937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3401568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Definition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633472" y="3401568"/>
            <a:ext cx="1993392" cy="438912"/>
          </a:xfrm>
          <a:prstGeom prst="roundRect">
            <a:avLst>
              <a:gd name="adj" fmla="val 25000"/>
            </a:avLst>
          </a:prstGeom>
          <a:solidFill>
            <a:srgbClr val="1F2937"/>
          </a:solidFill>
          <a:ln w="19050">
            <a:solidFill>
              <a:srgbClr val="FB923C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633472" y="3401568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Problem Solved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09744" y="3401568"/>
            <a:ext cx="1993392" cy="438912"/>
          </a:xfrm>
          <a:prstGeom prst="roundRect">
            <a:avLst>
              <a:gd name="adj" fmla="val 25000"/>
            </a:avLst>
          </a:prstGeom>
          <a:solidFill>
            <a:srgbClr val="1F2937"/>
          </a:solidFill>
          <a:ln w="19050">
            <a:solidFill>
              <a:srgbClr val="A855F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09744" y="3401568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Deep Anatomy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986016" y="3401568"/>
            <a:ext cx="1993392" cy="438912"/>
          </a:xfrm>
          <a:prstGeom prst="roundRect">
            <a:avLst>
              <a:gd name="adj" fmla="val 25000"/>
            </a:avLst>
          </a:prstGeom>
          <a:solidFill>
            <a:srgbClr val="1F2937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86016" y="3401568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Practice + Answers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4370832"/>
            <a:ext cx="9144000" cy="77266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38912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buNone/>
            </a:pPr>
            <a:r>
              <a:rPr lang="en-US" sz="135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learn_python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(you):   </a:t>
            </a:r>
            <a:pPr indent="0" marL="0">
              <a:buNone/>
            </a:pPr>
            <a:r>
              <a:rPr lang="en-US" sz="135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+ </a:t>
            </a:r>
            <a:pPr indent="0" marL="0">
              <a:buNone/>
            </a:pPr>
            <a:r>
              <a:rPr lang="en-US" sz="13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"Awesome Programmer"</a:t>
            </a:r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|  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learn_python(</a:t>
            </a:r>
            <a:pPr indent="0" marL="0">
              <a:buNone/>
            </a:pPr>
            <a:r>
              <a:rPr lang="en-US" sz="13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"You!"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😩  The Problem — Life Without Functions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20040" y="107899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functions, your code becomes a nightmare. See why...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56032" y="1481328"/>
            <a:ext cx="4160520" cy="3383280"/>
          </a:xfrm>
          <a:prstGeom prst="rect">
            <a:avLst/>
          </a:prstGeom>
          <a:solidFill>
            <a:srgbClr val="1A0A0A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481328"/>
            <a:ext cx="4160520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481328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WITHOUT Functions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920240"/>
            <a:ext cx="3886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Calculate area for student 1
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l1=5; w1=3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area1 = l1 * w1
</a:t>
            </a:r>
            <a:pPr indent="0" marL="0">
              <a:buNone/>
            </a:pPr>
            <a:r>
              <a:rPr lang="en-US" sz="12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(area1)
</a:t>
            </a:r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Calculate area for student 2
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l2=8; w2=4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area2 = l2 * w2
</a:t>
            </a:r>
            <a:pPr indent="0" marL="0">
              <a:buNone/>
            </a:pPr>
            <a:r>
              <a:rPr lang="en-US" sz="12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(area2)
</a:t>
            </a:r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Calculate area for student 3
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l3=6; w3=2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area3 = l3 * w3
</a:t>
            </a:r>
            <a:pPr indent="0" marL="0">
              <a:buNone/>
            </a:pPr>
            <a:r>
              <a:rPr lang="en-US" sz="12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(area3)
</a:t>
            </a:r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Repeated 100 times?? 😱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27448" y="1481328"/>
            <a:ext cx="4160520" cy="3383280"/>
          </a:xfrm>
          <a:prstGeom prst="rect">
            <a:avLst/>
          </a:prstGeom>
          <a:solidFill>
            <a:srgbClr val="091A0F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27448" y="1481328"/>
            <a:ext cx="4160520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27448" y="1481328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91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WITH Functions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73752" y="1920240"/>
            <a:ext cx="3886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Define ONCE
</a:t>
            </a:r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calc_area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(l, w):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* w
</a:t>
            </a:r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Use as many times as needed!
</a:t>
            </a:r>
            <a:pPr indent="0" marL="0">
              <a:buNone/>
            </a:pPr>
            <a:r>
              <a:rPr lang="en-US" sz="12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calc_area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(5, 3)  </a:t>
            </a:r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15
</a:t>
            </a:r>
            <a:pPr indent="0" marL="0">
              <a:buNone/>
            </a:pPr>
            <a:r>
              <a:rPr lang="en-US" sz="12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calc_area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(8, 4)  </a:t>
            </a:r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32
</a:t>
            </a:r>
            <a:pPr indent="0" marL="0">
              <a:buNone/>
            </a:pPr>
            <a:r>
              <a:rPr lang="en-US" sz="12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calc_area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(6, 2)  </a:t>
            </a:r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12
</a:t>
            </a:r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1000 students? No problem! 🎉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87952" y="28346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BBF24"/>
                </a:solidFill>
              </a:rPr>
              <a:t>⟹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256032" y="4681728"/>
            <a:ext cx="4160520" cy="365760"/>
          </a:xfrm>
          <a:prstGeom prst="rect">
            <a:avLst/>
          </a:prstGeom>
          <a:solidFill>
            <a:srgbClr val="2A0A0A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47472" y="468172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Repetition • Bugs everywhere • Hard to fix • Long code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27448" y="4681728"/>
            <a:ext cx="4160520" cy="365760"/>
          </a:xfrm>
          <a:prstGeom prst="rect">
            <a:avLst/>
          </a:prstGeom>
          <a:solidFill>
            <a:srgbClr val="09230F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18888" y="468172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Benefits: Write once • Fix once • Short code • Easy to read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046720" y="48463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2 / 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What is a Function? — The Official Definition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20040" y="107899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it formally, then in plain English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56032" y="1481328"/>
            <a:ext cx="8631936" cy="868680"/>
          </a:xfrm>
          <a:prstGeom prst="rect">
            <a:avLst/>
          </a:prstGeom>
          <a:solidFill>
            <a:srgbClr val="0A1628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481328"/>
            <a:ext cx="73152" cy="8686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087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Definition: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8745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is a named, reusable block of code that performs a specific task, optionally accepts inputs (parameters), and optionally returns an output (return value).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6032" y="2487168"/>
            <a:ext cx="8631936" cy="685800"/>
          </a:xfrm>
          <a:prstGeom prst="rect">
            <a:avLst/>
          </a:prstGeom>
          <a:solidFill>
            <a:srgbClr val="0E1A2E"/>
          </a:solidFill>
          <a:ln w="19050">
            <a:solidFill>
              <a:srgbClr val="2DD4BF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2487168"/>
            <a:ext cx="73152" cy="6858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514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English: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28163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function is like saving your work — you write the steps once, give it a name, and run it whenever you need it."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256032" y="3291840"/>
            <a:ext cx="2788920" cy="1627632"/>
          </a:xfrm>
          <a:prstGeom prst="roundRect">
            <a:avLst>
              <a:gd name="adj" fmla="val 6742"/>
            </a:avLst>
          </a:prstGeom>
          <a:solidFill>
            <a:srgbClr val="1F2937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6032" y="3291840"/>
            <a:ext cx="278892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" y="341071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 Named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93192" y="3913632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 unique name so you can call it anytime — like calling a dog by its name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18688" y="3291840"/>
            <a:ext cx="2788920" cy="1627632"/>
          </a:xfrm>
          <a:prstGeom prst="roundRect">
            <a:avLst>
              <a:gd name="adj" fmla="val 6742"/>
            </a:avLst>
          </a:prstGeom>
          <a:solidFill>
            <a:srgbClr val="1F2937"/>
          </a:solidFill>
          <a:ln w="19050">
            <a:solidFill>
              <a:srgbClr val="A855F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18688" y="3291840"/>
            <a:ext cx="2788920" cy="7315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18688" y="341071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♻️  Reusable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355848" y="3913632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logic once, run it hundreds of times without rewriting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181344" y="3291840"/>
            <a:ext cx="2788920" cy="1627632"/>
          </a:xfrm>
          <a:prstGeom prst="roundRect">
            <a:avLst>
              <a:gd name="adj" fmla="val 6742"/>
            </a:avLst>
          </a:prstGeom>
          <a:solidFill>
            <a:srgbClr val="1F2937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81344" y="3291840"/>
            <a:ext cx="278892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81344" y="341071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Encapsulated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318504" y="3913632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internal logic is hidden — you only care about input and output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046720" y="48463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3 / 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🎰  The Vending Machine — Best Analogy Ever!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20040" y="107899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works EXACTLY like a vending machine. Here's how: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2834640" cy="3520440"/>
          </a:xfrm>
          <a:prstGeom prst="rect">
            <a:avLst/>
          </a:prstGeom>
          <a:solidFill>
            <a:srgbClr val="1A1A2E"/>
          </a:solidFill>
          <a:ln w="19050">
            <a:solidFill>
              <a:srgbClr val="FBBF24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5087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dirty="0">
                <a:solidFill>
                  <a:srgbClr val="000000"/>
                </a:solidFill>
              </a:rPr>
              <a:t>🎰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274320" y="233172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VENDING MACHINE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7472" y="2788920"/>
            <a:ext cx="269748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7889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🪙  You insert money (INPUT)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3218688"/>
            <a:ext cx="269748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21868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 You press a code (PARAMETER)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7472" y="3648456"/>
            <a:ext cx="269748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64845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Machine processes inside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7472" y="4078224"/>
            <a:ext cx="269748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07822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🥤  Drink drops out (RETURN VALUE)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0" y="3017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9CA3AF"/>
                </a:solidFill>
              </a:rPr>
              <a:t>⟹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3840480" y="1463040"/>
            <a:ext cx="5029200" cy="3520440"/>
          </a:xfrm>
          <a:prstGeom prst="rect">
            <a:avLst/>
          </a:prstGeom>
          <a:solidFill>
            <a:srgbClr val="0A1020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840480" y="15087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FUNCTION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913632" y="1993392"/>
            <a:ext cx="2148840" cy="594360"/>
          </a:xfrm>
          <a:prstGeom prst="rect">
            <a:avLst/>
          </a:prstGeom>
          <a:solidFill>
            <a:srgbClr val="1F2937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05072" y="1993392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inserted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062472" y="2084832"/>
            <a:ext cx="256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309360" y="1993392"/>
            <a:ext cx="2423160" cy="594360"/>
          </a:xfrm>
          <a:prstGeom prst="rect">
            <a:avLst/>
          </a:prstGeom>
          <a:solidFill>
            <a:srgbClr val="1F2937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199339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the function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913632" y="2724912"/>
            <a:ext cx="2148840" cy="594360"/>
          </a:xfrm>
          <a:prstGeom prst="rect">
            <a:avLst/>
          </a:prstGeom>
          <a:solidFill>
            <a:srgbClr val="1F293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05072" y="2724912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 code (e.g B3)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062472" y="2816352"/>
            <a:ext cx="256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09360" y="2724912"/>
            <a:ext cx="2423160" cy="594360"/>
          </a:xfrm>
          <a:prstGeom prst="rect">
            <a:avLst/>
          </a:prstGeom>
          <a:solidFill>
            <a:srgbClr val="1F293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272491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 passed  e.g  (5, 3)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913632" y="3456432"/>
            <a:ext cx="2148840" cy="594360"/>
          </a:xfrm>
          <a:prstGeom prst="rect">
            <a:avLst/>
          </a:prstGeom>
          <a:solidFill>
            <a:srgbClr val="1F2937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05072" y="3456432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mechanism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062472" y="3547872"/>
            <a:ext cx="256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</a:rPr>
              <a:t>→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09360" y="3456432"/>
            <a:ext cx="2423160" cy="594360"/>
          </a:xfrm>
          <a:prstGeom prst="rect">
            <a:avLst/>
          </a:prstGeom>
          <a:solidFill>
            <a:srgbClr val="1F2937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0" y="345643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body (the code inside)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913632" y="4187952"/>
            <a:ext cx="2148840" cy="594360"/>
          </a:xfrm>
          <a:prstGeom prst="rect">
            <a:avLst/>
          </a:prstGeom>
          <a:solidFill>
            <a:srgbClr val="1F293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005072" y="4187952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Drink dispensed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062472" y="4279392"/>
            <a:ext cx="256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</a:rPr>
              <a:t>→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09360" y="4187952"/>
            <a:ext cx="2423160" cy="594360"/>
          </a:xfrm>
          <a:prstGeom prst="rect">
            <a:avLst/>
          </a:prstGeom>
          <a:solidFill>
            <a:srgbClr val="1F293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0" y="418795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value  e.g  return area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840480" y="4645152"/>
            <a:ext cx="5029200" cy="384048"/>
          </a:xfrm>
          <a:prstGeom prst="rect">
            <a:avLst/>
          </a:prstGeom>
          <a:solidFill>
            <a:srgbClr val="080F1E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3977640" y="4654296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cola = vending_machine(</a:t>
            </a:r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"B3"</a:t>
            </a:r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→ 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calc_area(</a:t>
            </a:r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74320" y="4645152"/>
            <a:ext cx="2834640" cy="384048"/>
          </a:xfrm>
          <a:prstGeom prst="rect">
            <a:avLst/>
          </a:prstGeom>
          <a:solidFill>
            <a:srgbClr val="1A1500"/>
          </a:solidFill>
          <a:ln w="19050">
            <a:solidFill>
              <a:srgbClr val="FBBF24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365760" y="464515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You don't see HOW it works inside!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046720" y="48463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4 / 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Anatomy of a Function — Every Part Explained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20040" y="107899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key parts — understand each one clearly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56032" y="1481328"/>
            <a:ext cx="5212080" cy="3520440"/>
          </a:xfrm>
          <a:prstGeom prst="rect">
            <a:avLst/>
          </a:prstGeom>
          <a:solidFill>
            <a:srgbClr val="080F1E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481328"/>
            <a:ext cx="5212080" cy="256032"/>
          </a:xfrm>
          <a:prstGeom prst="rect">
            <a:avLst/>
          </a:prstGeom>
          <a:solidFill>
            <a:srgbClr val="161E30"/>
          </a:solidFill>
          <a:ln w="12700">
            <a:solidFill>
              <a:srgbClr val="161E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545336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1545336"/>
            <a:ext cx="118872" cy="11887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8096" y="1545336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" y="1783080"/>
            <a:ext cx="493776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① def keyword
</a:t>
            </a:r>
            <a:pPr indent="0" marL="0">
              <a:buNone/>
            </a:pPr>
            <a:r>
              <a:rPr lang="en-US" sz="125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② function name
</a:t>
            </a:r>
            <a:pPr indent="0" marL="0">
              <a:buNone/>
            </a:pPr>
            <a:r>
              <a:rPr lang="en-US" sz="125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greet_student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
</a:t>
            </a:r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③ parameters
</a:t>
            </a:r>
            <a:pPr indent="0" marL="0">
              <a:buNone/>
            </a:pPr>
            <a:r>
              <a:rPr lang="en-US" sz="12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2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④ default param
</a:t>
            </a:r>
            <a:pPr indent="0" marL="0">
              <a:buNone/>
            </a:pPr>
            <a:r>
              <a:rPr lang="en-US" sz="12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city</a:t>
            </a:r>
            <a:pPr indent="0" marL="0">
              <a:buNone/>
            </a:pPr>
            <a:r>
              <a:rPr lang="en-US" sz="125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="Delhi"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
</a:t>
            </a:r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⑤ docstring
</a:t>
            </a:r>
            <a:pPr indent="0" marL="0">
              <a:buNone/>
            </a:pPr>
            <a:r>
              <a:rPr lang="en-US" sz="1250" i="1" dirty="0">
                <a:solidFill>
                  <a:srgbClr val="5B8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"""Greets a student."""
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msg = </a:t>
            </a:r>
            <a:pPr indent="0" marL="0">
              <a:buNone/>
            </a:pPr>
            <a:r>
              <a:rPr lang="en-US" sz="12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f"Hi {name}, age {age} from {city}"
</a:t>
            </a:r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⑥ return value
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25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msg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577840" y="1481328"/>
            <a:ext cx="3310128" cy="512064"/>
          </a:xfrm>
          <a:prstGeom prst="rect">
            <a:avLst/>
          </a:prstGeom>
          <a:solidFill>
            <a:srgbClr val="1F2937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77840" y="1481328"/>
            <a:ext cx="384048" cy="5120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77840" y="1481328"/>
            <a:ext cx="384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035040" y="1499616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 keyword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35040" y="1737360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Python: 'A function starts here!'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577840" y="2048256"/>
            <a:ext cx="3310128" cy="512064"/>
          </a:xfrm>
          <a:prstGeom prst="rect">
            <a:avLst/>
          </a:prstGeom>
          <a:solidFill>
            <a:srgbClr val="1F2937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577840" y="2048256"/>
            <a:ext cx="384048" cy="512064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77840" y="2048256"/>
            <a:ext cx="384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035040" y="2066544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Name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35040" y="2304288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CamelCase or snake_case. Must be descriptive.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615184"/>
            <a:ext cx="3310128" cy="512064"/>
          </a:xfrm>
          <a:prstGeom prst="rect">
            <a:avLst/>
          </a:prstGeom>
          <a:solidFill>
            <a:srgbClr val="1F2937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577840" y="2615184"/>
            <a:ext cx="384048" cy="5120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77840" y="2615184"/>
            <a:ext cx="384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035040" y="2633472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035040" y="2871216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slots for data (like blank form fields)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577840" y="3182112"/>
            <a:ext cx="3310128" cy="512064"/>
          </a:xfrm>
          <a:prstGeom prst="rect">
            <a:avLst/>
          </a:prstGeom>
          <a:solidFill>
            <a:srgbClr val="1F2937"/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577840" y="3182112"/>
            <a:ext cx="384048" cy="512064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77840" y="3182112"/>
            <a:ext cx="384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35040" y="3200400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Parameter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035040" y="3438144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 value given, uses this. Optional input.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577840" y="3749040"/>
            <a:ext cx="3310128" cy="512064"/>
          </a:xfrm>
          <a:prstGeom prst="rect">
            <a:avLst/>
          </a:prstGeom>
          <a:solidFill>
            <a:srgbClr val="1F2937"/>
          </a:solidFill>
          <a:ln w="19050">
            <a:solidFill>
              <a:srgbClr val="5B8A6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577840" y="3749040"/>
            <a:ext cx="384048" cy="512064"/>
          </a:xfrm>
          <a:prstGeom prst="rect">
            <a:avLst/>
          </a:prstGeom>
          <a:solidFill>
            <a:srgbClr val="5B8A6B"/>
          </a:solidFill>
          <a:ln w="12700">
            <a:solidFill>
              <a:srgbClr val="5B8A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77840" y="3749040"/>
            <a:ext cx="384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035040" y="3767328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8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Docstring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035040" y="4005072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explaining what the function does.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577840" y="4315968"/>
            <a:ext cx="3310128" cy="512064"/>
          </a:xfrm>
          <a:prstGeom prst="rect">
            <a:avLst/>
          </a:prstGeom>
          <a:solidFill>
            <a:srgbClr val="1F2937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577840" y="4315968"/>
            <a:ext cx="384048" cy="5120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77840" y="4315968"/>
            <a:ext cx="384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035040" y="4334256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Value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035040" y="4572000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the function sends back to caller.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046720" y="48463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5 / 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Parameters vs Arguments — Phone Call Analogy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20040" y="107899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confused concept — cleared forever!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56032" y="1481328"/>
            <a:ext cx="8631936" cy="566928"/>
          </a:xfrm>
          <a:prstGeom prst="rect">
            <a:avLst/>
          </a:prstGeom>
          <a:solidFill>
            <a:srgbClr val="150B28"/>
          </a:solidFill>
          <a:ln w="19050">
            <a:solidFill>
              <a:srgbClr val="A855F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508760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Parameter = The field in a contact form ("Enter name:")   |   📲 Argument = What you actually type ("Rahul")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6032" y="2176272"/>
            <a:ext cx="4160520" cy="2395728"/>
          </a:xfrm>
          <a:prstGeom prst="rect">
            <a:avLst/>
          </a:prstGeom>
          <a:solidFill>
            <a:srgbClr val="130B22"/>
          </a:solidFill>
          <a:ln w="19050">
            <a:solidFill>
              <a:srgbClr val="A855F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2176272"/>
            <a:ext cx="4160520" cy="41148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2176272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PARAMETER  (In Definition)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02336" y="2651760"/>
            <a:ext cx="3886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buNone/>
            </a:pPr>
            <a:r>
              <a:rPr lang="en-US" sz="125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call_friend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
</a:t>
            </a:r>
            <a:pPr indent="0" marL="0">
              <a:buNone/>
            </a:pPr>
            <a:r>
              <a:rPr lang="en-US" sz="125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name,  </a:t>
            </a:r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← PARAMETER
</a:t>
            </a:r>
            <a:pPr indent="0" marL="0">
              <a:buNone/>
            </a:pPr>
            <a:r>
              <a:rPr lang="en-US" sz="125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number  </a:t>
            </a:r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← PARAMETER
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
</a:t>
            </a:r>
            <a:pPr indent="0" marL="0">
              <a:buNone/>
            </a:pPr>
            <a:r>
              <a:rPr lang="en-US" sz="12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(f"Calling {name} at {number}")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47472" y="447141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Placeholders — like blank fields in a form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279392" y="310896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BBF24"/>
                </a:solidFill>
              </a:rPr>
              <a:t>⟺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4727448" y="2176272"/>
            <a:ext cx="4160520" cy="2395728"/>
          </a:xfrm>
          <a:prstGeom prst="rect">
            <a:avLst/>
          </a:prstGeom>
          <a:solidFill>
            <a:srgbClr val="091520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27448" y="2176272"/>
            <a:ext cx="4160520" cy="411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27448" y="2176272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📲  ARGUMENT  (When Calling)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73752" y="2651760"/>
            <a:ext cx="3886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call_friend(
</a:t>
            </a:r>
            <a:pPr indent="0" marL="0">
              <a:buNone/>
            </a:pPr>
            <a:r>
              <a:rPr lang="en-US" sz="125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"Rahul",   </a:t>
            </a:r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← ARGUMENT
</a:t>
            </a:r>
            <a:pPr indent="0" marL="0">
              <a:buNone/>
            </a:pPr>
            <a:r>
              <a:rPr lang="en-US" sz="125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"9876543210"  </a:t>
            </a:r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← ARGUMENT
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Output:
</a:t>
            </a:r>
            <a:pPr indent="0" marL="0">
              <a:buNone/>
            </a:pPr>
            <a:r>
              <a:rPr lang="en-US" sz="12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Calling Rahul at 9876543210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818888" y="447141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Real values — like what you actually fill in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56032" y="4681728"/>
            <a:ext cx="8631936" cy="384048"/>
          </a:xfrm>
          <a:prstGeom prst="rect">
            <a:avLst/>
          </a:prstGeom>
          <a:solidFill>
            <a:srgbClr val="1F2937"/>
          </a:solidFill>
          <a:ln w="19050">
            <a:solidFill>
              <a:srgbClr val="2DD4BF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468172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Parameters live in def line  •  Arguments live in function call  •  They must match in order &amp; count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046720" y="48463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6 / 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📬  Return Values — The Post Office Analogy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20040" y="107899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returns a value just like a post office returns a parcel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56032" y="1481328"/>
            <a:ext cx="1993392" cy="1554480"/>
          </a:xfrm>
          <a:prstGeom prst="roundRect">
            <a:avLst>
              <a:gd name="adj" fmla="val 7059"/>
            </a:avLst>
          </a:prstGeom>
          <a:solidFill>
            <a:srgbClr val="1F2937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56032" y="1536192"/>
            <a:ext cx="199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📦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56032" y="2212848"/>
            <a:ext cx="19933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send 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56032" y="2724912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the function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286000" y="2103120"/>
            <a:ext cx="109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CA3AF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423160" y="1481328"/>
            <a:ext cx="1993392" cy="1554480"/>
          </a:xfrm>
          <a:prstGeom prst="roundRect">
            <a:avLst>
              <a:gd name="adj" fmla="val 7059"/>
            </a:avLst>
          </a:prstGeom>
          <a:solidFill>
            <a:srgbClr val="1F2937"/>
          </a:solidFill>
          <a:ln w="19050">
            <a:solidFill>
              <a:srgbClr val="A855F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423160" y="1536192"/>
            <a:ext cx="199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🏭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423160" y="2212848"/>
            <a:ext cx="19933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office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423160" y="2724912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body runs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453128" y="2103120"/>
            <a:ext cx="109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CA3AF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590288" y="1481328"/>
            <a:ext cx="1993392" cy="1554480"/>
          </a:xfrm>
          <a:prstGeom prst="roundRect">
            <a:avLst>
              <a:gd name="adj" fmla="val 7059"/>
            </a:avLst>
          </a:prstGeom>
          <a:solidFill>
            <a:srgbClr val="1F2937"/>
          </a:solidFill>
          <a:ln w="19050">
            <a:solidFill>
              <a:srgbClr val="2DD4BF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90288" y="1536192"/>
            <a:ext cx="199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📬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4590288" y="2212848"/>
            <a:ext cx="19933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arrives back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90288" y="2724912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value sent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620256" y="2103120"/>
            <a:ext cx="109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CA3AF"/>
                </a:solidFill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757416" y="1481328"/>
            <a:ext cx="1993392" cy="1554480"/>
          </a:xfrm>
          <a:prstGeom prst="roundRect">
            <a:avLst>
              <a:gd name="adj" fmla="val 7059"/>
            </a:avLst>
          </a:prstGeom>
          <a:solidFill>
            <a:srgbClr val="1F2937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757416" y="1536192"/>
            <a:ext cx="199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🎁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6757416" y="2212848"/>
            <a:ext cx="19933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use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parcel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757416" y="2724912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= func()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56032" y="3200400"/>
            <a:ext cx="4160520" cy="1755648"/>
          </a:xfrm>
          <a:prstGeom prst="rect">
            <a:avLst/>
          </a:prstGeom>
          <a:solidFill>
            <a:srgbClr val="091A0F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56032" y="3200400"/>
            <a:ext cx="4160520" cy="3383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3200400"/>
            <a:ext cx="4160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With return — you GET the result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02336" y="3593592"/>
            <a:ext cx="38862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buNone/>
            </a:pPr>
            <a:r>
              <a:rPr lang="en-US" sz="125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(a, b):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+ b
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add(3, 4)
</a:t>
            </a:r>
            <a:pPr indent="0" marL="0">
              <a:buNone/>
            </a:pPr>
            <a:r>
              <a:rPr lang="en-US" sz="12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(result)  </a:t>
            </a:r>
            <a:pPr indent="0" marL="0">
              <a:buNone/>
            </a:pPr>
            <a:r>
              <a:rPr lang="en-US" sz="125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7  ✅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727448" y="3200400"/>
            <a:ext cx="4160520" cy="1755648"/>
          </a:xfrm>
          <a:prstGeom prst="rect">
            <a:avLst/>
          </a:prstGeom>
          <a:solidFill>
            <a:srgbClr val="1A0A0A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27448" y="3200400"/>
            <a:ext cx="4160520" cy="3383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27448" y="3200400"/>
            <a:ext cx="4160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Without return — you get None!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73752" y="3593592"/>
            <a:ext cx="38862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buNone/>
            </a:pPr>
            <a:r>
              <a:rPr lang="en-US" sz="125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(a, b):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 + b  </a:t>
            </a:r>
            <a:endParaRPr lang="en-US" sz="1250" dirty="0"/>
          </a:p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forgot return!
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add(3, 4)
</a:t>
            </a:r>
            <a:pPr indent="0" marL="0">
              <a:buNone/>
            </a:pPr>
            <a:r>
              <a:rPr lang="en-US" sz="12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(result)  </a:t>
            </a:r>
            <a:pPr indent="0" marL="0">
              <a:buNone/>
            </a:pPr>
            <a:r>
              <a:rPr lang="en-US" sz="125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None  ❌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242816" y="379476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BF24"/>
                </a:solidFill>
              </a:rPr>
              <a:t>VS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046720" y="48463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7 / 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  4 Types of Functions — Real World Scenarios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20040" y="107899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right type for the right job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56032" y="1481328"/>
            <a:ext cx="4251960" cy="1719072"/>
          </a:xfrm>
          <a:prstGeom prst="rect">
            <a:avLst/>
          </a:prstGeom>
          <a:solidFill>
            <a:srgbClr val="1F2937"/>
          </a:solidFill>
          <a:ln w="19050">
            <a:solidFill>
              <a:srgbClr val="2DD4BF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481328"/>
            <a:ext cx="4251960" cy="347472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481328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No Input, No Output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86537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Announcing today's menu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2167128"/>
            <a:ext cx="4069080" cy="960120"/>
          </a:xfrm>
          <a:prstGeom prst="rect">
            <a:avLst/>
          </a:prstGeom>
          <a:solidFill>
            <a:srgbClr val="080F1E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" y="2194560"/>
            <a:ext cx="3931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buNone/>
            </a:pPr>
            <a:r>
              <a:rPr lang="en-US" sz="115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announce_menu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("Today: Biryani!")
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announce_menu()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00016" y="1481328"/>
            <a:ext cx="4251960" cy="1719072"/>
          </a:xfrm>
          <a:prstGeom prst="rect">
            <a:avLst/>
          </a:prstGeom>
          <a:solidFill>
            <a:srgbClr val="1F2937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0016" y="1481328"/>
            <a:ext cx="4251960" cy="3474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0016" y="1481328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Input, No Output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9744" y="186537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Log a message to screen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91456" y="2167128"/>
            <a:ext cx="4069080" cy="960120"/>
          </a:xfrm>
          <a:prstGeom prst="rect">
            <a:avLst/>
          </a:prstGeom>
          <a:solidFill>
            <a:srgbClr val="080F1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64608" y="2194560"/>
            <a:ext cx="3931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buNone/>
            </a:pPr>
            <a:r>
              <a:rPr lang="en-US" sz="115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(msg):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(f"LOG: {msg}")
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log("Server started")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56032" y="3310128"/>
            <a:ext cx="4251960" cy="1719072"/>
          </a:xfrm>
          <a:prstGeom prst="rect">
            <a:avLst/>
          </a:prstGeom>
          <a:solidFill>
            <a:srgbClr val="1F2937"/>
          </a:solidFill>
          <a:ln w="19050">
            <a:solidFill>
              <a:srgbClr val="A855F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56032" y="3310128"/>
            <a:ext cx="4251960" cy="34747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" y="3310128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Input + Output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369417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Calculate &amp; give back result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47472" y="3995928"/>
            <a:ext cx="4069080" cy="960120"/>
          </a:xfrm>
          <a:prstGeom prst="rect">
            <a:avLst/>
          </a:prstGeom>
          <a:solidFill>
            <a:srgbClr val="080F1E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0624" y="4023360"/>
            <a:ext cx="3931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buNone/>
            </a:pPr>
            <a:r>
              <a:rPr lang="en-US" sz="115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square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* n
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square(5)
</a:t>
            </a:r>
            <a:pPr indent="0" marL="0">
              <a:buNone/>
            </a:pPr>
            <a:r>
              <a:rPr lang="en-US" sz="11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result = 25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00016" y="3310128"/>
            <a:ext cx="4251960" cy="1719072"/>
          </a:xfrm>
          <a:prstGeom prst="rect">
            <a:avLst/>
          </a:prstGeom>
          <a:solidFill>
            <a:srgbClr val="1F2937"/>
          </a:solidFill>
          <a:ln w="19050">
            <a:solidFill>
              <a:srgbClr val="FBBF24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0016" y="3310128"/>
            <a:ext cx="4251960" cy="34747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0016" y="3310128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With Default Params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09744" y="369417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Default settings, customisable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91456" y="3995928"/>
            <a:ext cx="4069080" cy="960120"/>
          </a:xfrm>
          <a:prstGeom prst="rect">
            <a:avLst/>
          </a:prstGeom>
          <a:solidFill>
            <a:srgbClr val="080F1E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64608" y="4023360"/>
            <a:ext cx="3931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buNone/>
            </a:pPr>
            <a:r>
              <a:rPr lang="en-US" sz="115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(name, lang="EN"):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pPr indent="0" marL="0">
              <a:buNone/>
            </a:pPr>
            <a:r>
              <a:rPr lang="en-US" sz="11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f"Hello {name}"
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greet("Raj")     </a:t>
            </a:r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uses EN
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greet("Raj","HI")</a:t>
            </a:r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Hindi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046720" y="48463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8 / 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5 Superpowers of Functions — Why Every Programmer Uses Them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20040" y="107899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benefits are why functions are the backbone of all programs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56032" y="1481328"/>
            <a:ext cx="2834640" cy="1691640"/>
          </a:xfrm>
          <a:prstGeom prst="roundRect">
            <a:avLst>
              <a:gd name="adj" fmla="val 6486"/>
            </a:avLst>
          </a:prstGeom>
          <a:solidFill>
            <a:srgbClr val="1F2937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481328"/>
            <a:ext cx="283464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600200"/>
            <a:ext cx="475488" cy="47548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600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96112" y="1572768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♻️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" y="2139696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Repeat Yourself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2487168"/>
            <a:ext cx="2633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logic once. Call it 100 times. Fix bugs in ONE place instead of 100.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1481328"/>
            <a:ext cx="2834640" cy="1691640"/>
          </a:xfrm>
          <a:prstGeom prst="roundRect">
            <a:avLst>
              <a:gd name="adj" fmla="val 6486"/>
            </a:avLst>
          </a:prstGeom>
          <a:solidFill>
            <a:srgbClr val="1F2937"/>
          </a:solidFill>
          <a:ln w="19050">
            <a:solidFill>
              <a:srgbClr val="2DD4BF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481328"/>
            <a:ext cx="2834640" cy="73152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10128" y="1600200"/>
            <a:ext cx="475488" cy="47548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10128" y="1600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840480" y="1572768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📖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310128" y="2139696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Code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10128" y="2487168"/>
            <a:ext cx="2633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read_marks() tells you instantly what happens — no need to decode 20 lines of math.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44768" y="1481328"/>
            <a:ext cx="2834640" cy="1691640"/>
          </a:xfrm>
          <a:prstGeom prst="roundRect">
            <a:avLst>
              <a:gd name="adj" fmla="val 6486"/>
            </a:avLst>
          </a:prstGeom>
          <a:solidFill>
            <a:srgbClr val="1F2937"/>
          </a:solidFill>
          <a:ln w="19050">
            <a:solidFill>
              <a:srgbClr val="A855F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44768" y="1481328"/>
            <a:ext cx="2834640" cy="7315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54496" y="1600200"/>
            <a:ext cx="475488" cy="47548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54496" y="1600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784848" y="1572768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🧩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254496" y="2139696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Big → Small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254496" y="2487168"/>
            <a:ext cx="2633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big problem split into small functions is easy to build, test, and understand.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85800" y="3328416"/>
            <a:ext cx="2651760" cy="1691640"/>
          </a:xfrm>
          <a:prstGeom prst="roundRect">
            <a:avLst>
              <a:gd name="adj" fmla="val 6486"/>
            </a:avLst>
          </a:prstGeom>
          <a:solidFill>
            <a:srgbClr val="1F2937"/>
          </a:solidFill>
          <a:ln w="19050">
            <a:solidFill>
              <a:srgbClr val="FB923C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85800" y="3328416"/>
            <a:ext cx="2651760" cy="7315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95528" y="3447288"/>
            <a:ext cx="475488" cy="475488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34472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325880" y="3419856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🐛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795528" y="3986784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Debugging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95528" y="4334256"/>
            <a:ext cx="2450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in one function? Fix just that block. Rest of code stays untouched.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547872" y="3328416"/>
            <a:ext cx="2651760" cy="1691640"/>
          </a:xfrm>
          <a:prstGeom prst="roundRect">
            <a:avLst>
              <a:gd name="adj" fmla="val 6486"/>
            </a:avLst>
          </a:prstGeom>
          <a:solidFill>
            <a:srgbClr val="1F2937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547872" y="3328416"/>
            <a:ext cx="265176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57600" y="3447288"/>
            <a:ext cx="475488" cy="47548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0" y="34472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187952" y="3419856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🤝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3657600" y="3986784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Collaboration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3657600" y="4334256"/>
            <a:ext cx="2450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team member owns their function. Combine them like LEGO blocks.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046720" y="48463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9 / 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Practice Time! — 3 Exercises to Test Yourself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20040" y="107899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each problem before looking at the next slide for answers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56032" y="1481328"/>
            <a:ext cx="2834640" cy="3520440"/>
          </a:xfrm>
          <a:prstGeom prst="rect">
            <a:avLst/>
          </a:prstGeom>
          <a:solidFill>
            <a:srgbClr val="1F2937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481328"/>
            <a:ext cx="2834640" cy="5029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536192"/>
            <a:ext cx="384048" cy="384048"/>
          </a:xfrm>
          <a:prstGeom prst="ellipse">
            <a:avLst/>
          </a:prstGeom>
          <a:solidFill>
            <a:srgbClr val="0B1120"/>
          </a:solidFill>
          <a:ln w="12700">
            <a:solidFill>
              <a:srgbClr val="0B11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04672" y="15087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Calculator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04672" y="176479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Easy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2057400"/>
            <a:ext cx="263347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function called add_numbers that takes two numbers as input and returns their sum.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it with 15 and 27 and print the result.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47472" y="4224528"/>
            <a:ext cx="2651760" cy="594360"/>
          </a:xfrm>
          <a:prstGeom prst="rect">
            <a:avLst/>
          </a:prstGeom>
          <a:solidFill>
            <a:srgbClr val="0A1020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38912" y="42519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Hint: def add_numbers(a, b): ...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6032" y="473659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Try it first!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18688" y="1481328"/>
            <a:ext cx="2834640" cy="3520440"/>
          </a:xfrm>
          <a:prstGeom prst="rect">
            <a:avLst/>
          </a:prstGeom>
          <a:solidFill>
            <a:srgbClr val="1F2937"/>
          </a:solidFill>
          <a:ln w="19050">
            <a:solidFill>
              <a:srgbClr val="FBBF24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18688" y="1481328"/>
            <a:ext cx="2834640" cy="5029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10128" y="1536192"/>
            <a:ext cx="384048" cy="384048"/>
          </a:xfrm>
          <a:prstGeom prst="ellipse">
            <a:avLst/>
          </a:prstGeom>
          <a:solidFill>
            <a:srgbClr val="0B1120"/>
          </a:solidFill>
          <a:ln w="12700">
            <a:solidFill>
              <a:srgbClr val="0B11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0128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767328" y="15087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Greeter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767328" y="176479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⭐⭐ Medium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28416" y="2057400"/>
            <a:ext cx="263347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function called greet_user that takes a name and a greeting (default = "Namaste") and returns a message.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greet_user("Priya") → "Namaste, Priya!"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greet_user("Raj","Hello") → "Hello, Raj!"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310128" y="4224528"/>
            <a:ext cx="2651760" cy="594360"/>
          </a:xfrm>
          <a:prstGeom prst="rect">
            <a:avLst/>
          </a:prstGeom>
          <a:solidFill>
            <a:srgbClr val="0A1020"/>
          </a:solidFill>
          <a:ln w="19050">
            <a:solidFill>
              <a:srgbClr val="FBBF24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401568" y="42519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Hint: Use default parameter for greeting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18688" y="473659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Try it first!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181344" y="1481328"/>
            <a:ext cx="2834640" cy="3520440"/>
          </a:xfrm>
          <a:prstGeom prst="rect">
            <a:avLst/>
          </a:prstGeom>
          <a:solidFill>
            <a:srgbClr val="1F2937"/>
          </a:solidFill>
          <a:ln w="19050">
            <a:solidFill>
              <a:srgbClr val="FB923C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81344" y="1481328"/>
            <a:ext cx="2834640" cy="50292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72784" y="1536192"/>
            <a:ext cx="384048" cy="384048"/>
          </a:xfrm>
          <a:prstGeom prst="ellipse">
            <a:avLst/>
          </a:prstGeom>
          <a:solidFill>
            <a:srgbClr val="0B1120"/>
          </a:solidFill>
          <a:ln w="12700">
            <a:solidFill>
              <a:srgbClr val="0B112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72784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729984" y="15087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or Odd?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729984" y="176479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⭐⭐⭐ Hard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91072" y="2057400"/>
            <a:ext cx="263347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function is_even that takes a number and returns True if even, False if odd.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write another function called check_list that takes a list of numbers and prints whether each one is Even or Odd.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272784" y="4224528"/>
            <a:ext cx="2651760" cy="594360"/>
          </a:xfrm>
          <a:prstGeom prst="rect">
            <a:avLst/>
          </a:prstGeom>
          <a:solidFill>
            <a:srgbClr val="0A1020"/>
          </a:solidFill>
          <a:ln w="19050">
            <a:solidFill>
              <a:srgbClr val="FB923C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364224" y="42519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Hint: Use modulo operator %, call is_even inside check_list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181344" y="473659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Try it first!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046720" y="48463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10 / 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Practice Answers — See How You Did!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20040" y="107899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each solution and understand every line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56032" y="1481328"/>
            <a:ext cx="2697480" cy="3520440"/>
          </a:xfrm>
          <a:prstGeom prst="rect">
            <a:avLst/>
          </a:prstGeom>
          <a:solidFill>
            <a:srgbClr val="091A0F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481328"/>
            <a:ext cx="2697480" cy="3474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48132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 1 — Calculator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1901952"/>
            <a:ext cx="245059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add_numbers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(a, b):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+ b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add_numbers(15, 27)
</a:t>
            </a:r>
            <a:pPr indent="0" marL="0">
              <a:buNone/>
            </a:pPr>
            <a:r>
              <a:rPr lang="en-US" sz="12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(result)
</a:t>
            </a:r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Output: 42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090672" y="1481328"/>
            <a:ext cx="2697480" cy="3520440"/>
          </a:xfrm>
          <a:prstGeom prst="rect">
            <a:avLst/>
          </a:prstGeom>
          <a:solidFill>
            <a:srgbClr val="1A1500"/>
          </a:solidFill>
          <a:ln w="19050">
            <a:solidFill>
              <a:srgbClr val="FBBF24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090672" y="1481328"/>
            <a:ext cx="2697480" cy="34747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90672" y="148132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 2 — Greeter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18688" y="1901952"/>
            <a:ext cx="245059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buNone/>
            </a:pPr>
            <a:r>
              <a:rPr lang="en-US" sz="115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greet_user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greeting=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"Namaste"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f"{greeting}, {name}!"
</a:t>
            </a:r>
            <a:pPr indent="0" marL="0">
              <a:buNone/>
            </a:pPr>
            <a:r>
              <a:rPr lang="en-US" sz="11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(greet_user("Priya"))
</a:t>
            </a:r>
            <a:pPr indent="0" marL="0">
              <a:buNone/>
            </a:pPr>
            <a:r>
              <a:rPr lang="en-US" sz="11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Namaste, Priya!
</a:t>
            </a:r>
            <a:pPr indent="0" marL="0">
              <a:buNone/>
            </a:pPr>
            <a:r>
              <a:rPr lang="en-US" sz="11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(greet_user("Raj","Hello"))
</a:t>
            </a:r>
            <a:pPr indent="0" marL="0">
              <a:buNone/>
            </a:pPr>
            <a:r>
              <a:rPr lang="en-US" sz="11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Hello, Raj!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16168" y="1481328"/>
            <a:ext cx="2971800" cy="3520440"/>
          </a:xfrm>
          <a:prstGeom prst="rect">
            <a:avLst/>
          </a:prstGeom>
          <a:solidFill>
            <a:srgbClr val="1A0E00"/>
          </a:solidFill>
          <a:ln w="19050">
            <a:solidFill>
              <a:srgbClr val="FB923C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16168" y="1481328"/>
            <a:ext cx="2971800" cy="34747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16168" y="148132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 3 — Even/Odd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35040" y="1901952"/>
            <a:ext cx="2743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buNone/>
            </a:pPr>
            <a:r>
              <a:rPr lang="en-US" sz="11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is_even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% 2 == 0
</a:t>
            </a:r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check_list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(nums):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</a:t>
            </a:r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 = "Even" </a:t>
            </a:r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is_even(n) </a:t>
            </a:r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"Odd"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(f"{n} is {label}")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check_list([1,2,3,4,5])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046720" y="48463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11 / 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241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Python Functions — Complete Cheat Sheet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56032" y="1097280"/>
            <a:ext cx="1353312" cy="484632"/>
          </a:xfrm>
          <a:prstGeom prst="rect">
            <a:avLst/>
          </a:prstGeom>
          <a:solidFill>
            <a:srgbClr val="22C55E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9184" y="1097280"/>
            <a:ext cx="126187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627632" y="1097280"/>
            <a:ext cx="2011680" cy="484632"/>
          </a:xfrm>
          <a:prstGeom prst="rect">
            <a:avLst/>
          </a:prstGeom>
          <a:solidFill>
            <a:srgbClr val="22C55E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00784" y="1097280"/>
            <a:ext cx="19202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0" y="1097280"/>
            <a:ext cx="2304288" cy="484632"/>
          </a:xfrm>
          <a:prstGeom prst="rect">
            <a:avLst/>
          </a:prstGeom>
          <a:solidFill>
            <a:srgbClr val="22C55E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30752" y="1097280"/>
            <a:ext cx="221284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1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Syntax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80176" y="1097280"/>
            <a:ext cx="2560320" cy="484632"/>
          </a:xfrm>
          <a:prstGeom prst="rect">
            <a:avLst/>
          </a:prstGeom>
          <a:solidFill>
            <a:srgbClr val="22C55E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53328" y="1097280"/>
            <a:ext cx="24688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Rule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6032" y="1581912"/>
            <a:ext cx="1353312" cy="484632"/>
          </a:xfrm>
          <a:prstGeom prst="rect">
            <a:avLst/>
          </a:prstGeom>
          <a:solidFill>
            <a:srgbClr val="1A2030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" y="1581912"/>
            <a:ext cx="126187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627632" y="1581912"/>
            <a:ext cx="2011680" cy="484632"/>
          </a:xfrm>
          <a:prstGeom prst="rect">
            <a:avLst/>
          </a:prstGeom>
          <a:solidFill>
            <a:srgbClr val="1A2030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00784" y="1581912"/>
            <a:ext cx="19202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Vending machine recipe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0" y="1581912"/>
            <a:ext cx="2304288" cy="484632"/>
          </a:xfrm>
          <a:prstGeom prst="rect">
            <a:avLst/>
          </a:prstGeom>
          <a:solidFill>
            <a:srgbClr val="1A2030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30752" y="1581912"/>
            <a:ext cx="221284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func():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980176" y="1581912"/>
            <a:ext cx="2560320" cy="484632"/>
          </a:xfrm>
          <a:prstGeom prst="rect">
            <a:avLst/>
          </a:prstGeom>
          <a:solidFill>
            <a:srgbClr val="1A2030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53328" y="1581912"/>
            <a:ext cx="24688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before calling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56032" y="2066544"/>
            <a:ext cx="1353312" cy="484632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" y="2066544"/>
            <a:ext cx="126187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627632" y="2066544"/>
            <a:ext cx="2011680" cy="484632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00784" y="2066544"/>
            <a:ext cx="19202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form field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657600" y="2066544"/>
            <a:ext cx="2304288" cy="484632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30752" y="2066544"/>
            <a:ext cx="221284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f(name):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980176" y="2066544"/>
            <a:ext cx="2560320" cy="484632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53328" y="2066544"/>
            <a:ext cx="24688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def — placeholder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256032" y="2551176"/>
            <a:ext cx="1353312" cy="484632"/>
          </a:xfrm>
          <a:prstGeom prst="rect">
            <a:avLst/>
          </a:prstGeom>
          <a:solidFill>
            <a:srgbClr val="1A2030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9184" y="2551176"/>
            <a:ext cx="126187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1627632" y="2551176"/>
            <a:ext cx="2011680" cy="484632"/>
          </a:xfrm>
          <a:prstGeom prst="rect">
            <a:avLst/>
          </a:prstGeom>
          <a:solidFill>
            <a:srgbClr val="1A2030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700784" y="2551176"/>
            <a:ext cx="19202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fill in form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3657600" y="2551176"/>
            <a:ext cx="2304288" cy="484632"/>
          </a:xfrm>
          <a:prstGeom prst="rect">
            <a:avLst/>
          </a:prstGeom>
          <a:solidFill>
            <a:srgbClr val="1A2030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30752" y="2551176"/>
            <a:ext cx="221284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f("Rahul")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980176" y="2551176"/>
            <a:ext cx="2560320" cy="484632"/>
          </a:xfrm>
          <a:prstGeom prst="rect">
            <a:avLst/>
          </a:prstGeom>
          <a:solidFill>
            <a:srgbClr val="1A2030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53328" y="2551176"/>
            <a:ext cx="24688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call — real value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256032" y="3035808"/>
            <a:ext cx="1353312" cy="484632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9184" y="3035808"/>
            <a:ext cx="126187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Param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1627632" y="3035808"/>
            <a:ext cx="2011680" cy="484632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700784" y="3035808"/>
            <a:ext cx="19202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Machine's preset button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3657600" y="3035808"/>
            <a:ext cx="2304288" cy="484632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730752" y="3035808"/>
            <a:ext cx="221284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f(x="Hi"):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5980176" y="3035808"/>
            <a:ext cx="2560320" cy="484632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53328" y="3035808"/>
            <a:ext cx="24688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Optional, has fallback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256032" y="3520440"/>
            <a:ext cx="1353312" cy="484632"/>
          </a:xfrm>
          <a:prstGeom prst="rect">
            <a:avLst/>
          </a:prstGeom>
          <a:solidFill>
            <a:srgbClr val="1A2030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9184" y="3520440"/>
            <a:ext cx="126187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Value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1627632" y="3520440"/>
            <a:ext cx="2011680" cy="484632"/>
          </a:xfrm>
          <a:prstGeom prst="rect">
            <a:avLst/>
          </a:prstGeom>
          <a:solidFill>
            <a:srgbClr val="1A2030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700784" y="3520440"/>
            <a:ext cx="19202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Parcel delivered back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3657600" y="3520440"/>
            <a:ext cx="2304288" cy="484632"/>
          </a:xfrm>
          <a:prstGeom prst="rect">
            <a:avLst/>
          </a:prstGeom>
          <a:solidFill>
            <a:srgbClr val="1A2030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730752" y="3520440"/>
            <a:ext cx="221284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result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5980176" y="3520440"/>
            <a:ext cx="2560320" cy="484632"/>
          </a:xfrm>
          <a:prstGeom prst="rect">
            <a:avLst/>
          </a:prstGeom>
          <a:solidFill>
            <a:srgbClr val="1A2030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053328" y="3520440"/>
            <a:ext cx="24688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return = None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256032" y="4005072"/>
            <a:ext cx="1353312" cy="484632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9184" y="4005072"/>
            <a:ext cx="126187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1627632" y="4005072"/>
            <a:ext cx="2011680" cy="484632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700784" y="4005072"/>
            <a:ext cx="19202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vending machine btn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3657600" y="4005072"/>
            <a:ext cx="2304288" cy="484632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730752" y="4005072"/>
            <a:ext cx="221284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= func(5,3)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5980176" y="4005072"/>
            <a:ext cx="2560320" cy="484632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053328" y="4005072"/>
            <a:ext cx="24688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function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74320" y="4736592"/>
            <a:ext cx="859536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🎰 A function is your Vending Machine — define it once, press the button anytime, get your result!   🐍 Happy Coding!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Functions – Complete Guide</dc:title>
  <dc:subject>PptxGenJS Presentation</dc:subject>
  <dc:creator>PptxGenJS</dc:creator>
  <cp:lastModifiedBy>PptxGenJS</cp:lastModifiedBy>
  <cp:revision>1</cp:revision>
  <dcterms:created xsi:type="dcterms:W3CDTF">2026-03-21T06:56:33Z</dcterms:created>
  <dcterms:modified xsi:type="dcterms:W3CDTF">2026-03-21T06:56:33Z</dcterms:modified>
</cp:coreProperties>
</file>