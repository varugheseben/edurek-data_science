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57" r:id="rId4"/>
    <p:sldId id="259" r:id="rId5"/>
    <p:sldId id="260" r:id="rId6"/>
    <p:sldId id="265" r:id="rId7"/>
    <p:sldId id="266" r:id="rId8"/>
    <p:sldId id="267" r:id="rId9"/>
    <p:sldId id="258" r:id="rId10"/>
    <p:sldId id="268" r:id="rId11"/>
    <p:sldId id="269" r:id="rId12"/>
    <p:sldId id="270" r:id="rId13"/>
    <p:sldId id="271" r:id="rId14"/>
    <p:sldId id="273" r:id="rId15"/>
    <p:sldId id="274" r:id="rId16"/>
    <p:sldId id="275" r:id="rId17"/>
    <p:sldId id="276" r:id="rId18"/>
    <p:sldId id="277" r:id="rId19"/>
    <p:sldId id="27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8AA3F-3FD0-B075-6DF6-1A6F85673B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1D57B7-0975-9B17-4986-FC31FA40E6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C9E45-E89B-3E5F-166B-E5E1612AB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CAD40-ED4C-410B-9EEC-38C4C4B929AD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5AEA8-3DA0-C352-4711-540840986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69A01-0B9B-186F-993E-D9CDB099E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E878E-6DB7-4798-BBA7-D91AC7EDC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544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12F2F-6305-B490-52DE-83711F701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0A891-E6E8-4DB0-EF0D-4ECDA65744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11F9F-E208-B2D5-5F92-2E8C973E7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CAD40-ED4C-410B-9EEC-38C4C4B929AD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E757A-4580-07A2-523D-EB18E96C2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023BB-699F-03B4-2A4C-974A73B8E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E878E-6DB7-4798-BBA7-D91AC7EDC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587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BFC98-0377-8A29-1DEC-5361608D7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BC1096-DCB7-C0E3-D060-ADF34550C6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1C015-320D-9130-A450-6A2D68B6C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CAD40-ED4C-410B-9EEC-38C4C4B929AD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85894-0A4B-D909-FBFB-56CFE764F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27B30-8072-6BA7-8BD6-E9142C59B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E878E-6DB7-4798-BBA7-D91AC7EDC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702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CA357-DEB3-A62C-EA16-C46239780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7B11C-B0C2-6F56-B9ED-BCE95C863B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C1B801-7E77-A333-A2B3-6EEF510BCC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633985-78D0-6FA5-EBFC-DC6A15BC0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CAD40-ED4C-410B-9EEC-38C4C4B929AD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DE4E1D-544D-8E2F-031C-45644E321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10A809-8A6C-60D3-9E7E-54529DA43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E878E-6DB7-4798-BBA7-D91AC7EDC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674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1711E-2804-8AB8-5D2D-CDA05559E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28F59-BC1A-46D4-0AC8-1FDFBFA9E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D5BBFD-707C-69B9-C0B9-E58004C6E7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5194B1-87E9-304B-B202-7EB9D10A0A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6BEE38-9D71-93BC-0D52-35EFD0F7A0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164B88-8981-4508-5449-902C2C737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CAD40-ED4C-410B-9EEC-38C4C4B929AD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54D0E5-5118-C605-4EE1-992E5E665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455D5E-2AD4-F090-E0D2-9F3C48E85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E878E-6DB7-4798-BBA7-D91AC7EDC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022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B986A-A6F1-3F01-7957-ED3AD9B5F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FFB6F6-A9E2-32FF-CC7A-438293AC1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CAD40-ED4C-410B-9EEC-38C4C4B929AD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58D406-F69D-8190-693A-E839866CF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FE7AA1-0B6D-3CB3-ED68-5B8E6D199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E878E-6DB7-4798-BBA7-D91AC7EDC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803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279D32-041A-33BE-17BC-2E86D6557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CAD40-ED4C-410B-9EEC-38C4C4B929AD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CF5DD1-1861-5827-E263-6AA9651B8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F2987-3F11-873B-B415-C907F0D56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E878E-6DB7-4798-BBA7-D91AC7EDC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780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1E90A-369F-716D-742D-28C10D3F3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9430C-BDFE-3D8D-E10F-084EBF860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B1B1A1-33E6-656A-05AD-4772A488F9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E521D-DBC0-E6A6-0639-F00935293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CAD40-ED4C-410B-9EEC-38C4C4B929AD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E6A15D-EE6D-D23C-802F-498F177B4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8BB951-BB17-0F5A-CBC6-5EBB0AE22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E878E-6DB7-4798-BBA7-D91AC7EDC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654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2EBB3-93C5-DCD5-D0C3-89E4329E3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F56D40-12F5-EC82-F447-E37056FE03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ABBB98-7016-9917-2C4E-41A8214FD4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BFE12C-2AB4-92CD-6D34-63572D0B4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CAD40-ED4C-410B-9EEC-38C4C4B929AD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1FBBE-FFBA-20F7-7CB5-3AB7C0D1A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E56C5D-F88A-5574-92A4-AC139971D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E878E-6DB7-4798-BBA7-D91AC7EDC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866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EB8D6-AC73-2770-08AD-C63F15D0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77776F-DDF3-8E39-789E-155F91D9E4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1961D-F2C2-909C-0253-BC4CD9671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CAD40-ED4C-410B-9EEC-38C4C4B929AD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4E53A-0554-3944-5DE8-E426B1AF5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11DC2-6308-2EE1-3B06-9B23CC1FF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E878E-6DB7-4798-BBA7-D91AC7EDC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00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29219C-9477-CC4B-6E48-DB562C51CE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972739-9C1B-917E-D75C-294F93DBF0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4E5939-B3A3-C78A-1319-4DFC1631C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CAD40-ED4C-410B-9EEC-38C4C4B929AD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3847D-BC5B-074D-821F-02E830D45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EDD83-222A-72DE-731D-083F55998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E878E-6DB7-4798-BBA7-D91AC7EDC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05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57DD49-A8F7-E98A-36B5-45B550D13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526CE7-5CBA-44F9-0C9F-806C29236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10BC6-F885-C8AC-3A20-B7C912054C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3CAD40-ED4C-410B-9EEC-38C4C4B929AD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176D9-7736-70AE-63B8-CF1FEC3F26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A6DED-247E-8233-3F48-4F6E3ABBD3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2E878E-6DB7-4798-BBA7-D91AC7EDC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055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A19F0-1B48-1BF3-E10D-64F7859E43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Class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95CFB9-00F7-7101-57EA-C65DF9A650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860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1AF73-ADF7-C286-783E-F5E096E50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class?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FB729-81BF-44C6-547A-BEC0D2952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class is a </a:t>
            </a:r>
            <a:r>
              <a:rPr lang="en-US" b="1" dirty="0"/>
              <a:t>blueprint</a:t>
            </a:r>
            <a:r>
              <a:rPr lang="en-US" dirty="0"/>
              <a:t> for creating objects. Just like a house blueprint defines structure, a class defines what data and actions an object will have.</a:t>
            </a:r>
          </a:p>
        </p:txBody>
      </p:sp>
    </p:spTree>
    <p:extLst>
      <p:ext uri="{BB962C8B-B14F-4D97-AF65-F5344CB8AC3E}">
        <p14:creationId xmlns:p14="http://schemas.microsoft.com/office/powerpoint/2010/main" val="2329164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77357-FF56-5890-4ACA-7A52EFA26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9AC5C-38C5-A301-B2CC-39FEE567C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F4F506-E99C-5C1F-C240-622E19A11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037" y="2036436"/>
            <a:ext cx="7652022" cy="351106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5032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FBD9C-00D1-C92E-EF4A-B6B0F1E23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6F5FC-3AB2-9685-3B28-AC5C5262C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6739A-F6D8-5600-2167-9DFA12672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1545DA-8B33-8A83-E49C-0E3124DDA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037" y="2036436"/>
            <a:ext cx="7652022" cy="351106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705DA65-0668-68C0-1039-88326C4CCABE}"/>
              </a:ext>
            </a:extLst>
          </p:cNvPr>
          <p:cNvCxnSpPr/>
          <p:nvPr/>
        </p:nvCxnSpPr>
        <p:spPr>
          <a:xfrm flipV="1">
            <a:off x="2483224" y="1102659"/>
            <a:ext cx="2770094" cy="1228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4D11BD6-9EE2-D30D-2CEC-AEA2D41C46B6}"/>
              </a:ext>
            </a:extLst>
          </p:cNvPr>
          <p:cNvSpPr txBox="1"/>
          <p:nvPr/>
        </p:nvSpPr>
        <p:spPr>
          <a:xfrm>
            <a:off x="5414682" y="905435"/>
            <a:ext cx="1915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have class Dog</a:t>
            </a:r>
          </a:p>
        </p:txBody>
      </p:sp>
    </p:spTree>
    <p:extLst>
      <p:ext uri="{BB962C8B-B14F-4D97-AF65-F5344CB8AC3E}">
        <p14:creationId xmlns:p14="http://schemas.microsoft.com/office/powerpoint/2010/main" val="3093091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2B7DE-1714-AAC3-BFF0-04E31843A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AE7B7-E409-967F-8258-C8B4A8E56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5415F-C928-7EE4-B12F-C1CA45A0C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42C810-781B-4667-5D5A-726D43AF3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037" y="2036436"/>
            <a:ext cx="7652022" cy="351106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7E57433-90FE-D8DC-DE2A-67FE2672A414}"/>
              </a:ext>
            </a:extLst>
          </p:cNvPr>
          <p:cNvCxnSpPr/>
          <p:nvPr/>
        </p:nvCxnSpPr>
        <p:spPr>
          <a:xfrm flipH="1">
            <a:off x="1380565" y="2617694"/>
            <a:ext cx="1640541" cy="412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F890775-4516-F6D1-2E67-B7A922E6FDFD}"/>
              </a:ext>
            </a:extLst>
          </p:cNvPr>
          <p:cNvSpPr txBox="1"/>
          <p:nvPr/>
        </p:nvSpPr>
        <p:spPr>
          <a:xfrm>
            <a:off x="337561" y="3108974"/>
            <a:ext cx="134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Constructor </a:t>
            </a:r>
          </a:p>
        </p:txBody>
      </p:sp>
    </p:spTree>
    <p:extLst>
      <p:ext uri="{BB962C8B-B14F-4D97-AF65-F5344CB8AC3E}">
        <p14:creationId xmlns:p14="http://schemas.microsoft.com/office/powerpoint/2010/main" val="3983559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91D99-DD9A-E262-A247-560B6E053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5DA4C-E2EF-DC45-4225-E28BEDF4D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C3200-4EF9-1CA1-8C92-4C4BCFF0A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5FE836-736D-BE61-630D-6BADB3091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037" y="2036436"/>
            <a:ext cx="7652022" cy="351106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7ACDDB3-ABF2-D074-0386-881C1D95CC14}"/>
              </a:ext>
            </a:extLst>
          </p:cNvPr>
          <p:cNvCxnSpPr/>
          <p:nvPr/>
        </p:nvCxnSpPr>
        <p:spPr>
          <a:xfrm flipH="1">
            <a:off x="1380565" y="2617694"/>
            <a:ext cx="1640541" cy="412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73F1A2C-D777-566B-0EA5-15B28564FC55}"/>
              </a:ext>
            </a:extLst>
          </p:cNvPr>
          <p:cNvSpPr txBox="1"/>
          <p:nvPr/>
        </p:nvSpPr>
        <p:spPr>
          <a:xfrm>
            <a:off x="337561" y="3108974"/>
            <a:ext cx="134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Constructor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A58E715-DCD1-60F0-7A55-346D62D1B168}"/>
              </a:ext>
            </a:extLst>
          </p:cNvPr>
          <p:cNvCxnSpPr/>
          <p:nvPr/>
        </p:nvCxnSpPr>
        <p:spPr>
          <a:xfrm flipH="1">
            <a:off x="1272988" y="3478306"/>
            <a:ext cx="1380565" cy="5229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1764D8A-B7AD-2629-5EDE-61D0B141C60E}"/>
              </a:ext>
            </a:extLst>
          </p:cNvPr>
          <p:cNvSpPr txBox="1"/>
          <p:nvPr/>
        </p:nvSpPr>
        <p:spPr>
          <a:xfrm>
            <a:off x="337561" y="4231341"/>
            <a:ext cx="938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Method</a:t>
            </a:r>
          </a:p>
        </p:txBody>
      </p:sp>
    </p:spTree>
    <p:extLst>
      <p:ext uri="{BB962C8B-B14F-4D97-AF65-F5344CB8AC3E}">
        <p14:creationId xmlns:p14="http://schemas.microsoft.com/office/powerpoint/2010/main" val="2011819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2D9E6-875E-C553-E65A-38A540B3C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FDF93-B0E6-9F3A-A9DA-7B87FF0C6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A01F4-2F03-4539-290A-E082B7C524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E9CA7E-2A9A-0C70-BC3F-0880FCF2D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037" y="2036436"/>
            <a:ext cx="7652022" cy="351106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559AF57-5A71-0AF2-7A90-0DF6860B6417}"/>
              </a:ext>
            </a:extLst>
          </p:cNvPr>
          <p:cNvCxnSpPr/>
          <p:nvPr/>
        </p:nvCxnSpPr>
        <p:spPr>
          <a:xfrm flipH="1">
            <a:off x="1380565" y="2617694"/>
            <a:ext cx="1640541" cy="412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7FA5FAD-F7F2-4670-A61A-6FC9A2357A8D}"/>
              </a:ext>
            </a:extLst>
          </p:cNvPr>
          <p:cNvSpPr txBox="1"/>
          <p:nvPr/>
        </p:nvSpPr>
        <p:spPr>
          <a:xfrm>
            <a:off x="337561" y="3108974"/>
            <a:ext cx="134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Constructor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941F3D9-DB8E-CD3B-9070-3516194485AF}"/>
              </a:ext>
            </a:extLst>
          </p:cNvPr>
          <p:cNvCxnSpPr/>
          <p:nvPr/>
        </p:nvCxnSpPr>
        <p:spPr>
          <a:xfrm flipH="1">
            <a:off x="1272988" y="3478306"/>
            <a:ext cx="1380565" cy="5229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EC1D097-09C8-10D7-1B87-DDB69D748C95}"/>
              </a:ext>
            </a:extLst>
          </p:cNvPr>
          <p:cNvSpPr txBox="1"/>
          <p:nvPr/>
        </p:nvSpPr>
        <p:spPr>
          <a:xfrm>
            <a:off x="337561" y="4231341"/>
            <a:ext cx="938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Method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C2EB957-4456-7FDA-A363-4FBC4F1EE8C0}"/>
              </a:ext>
            </a:extLst>
          </p:cNvPr>
          <p:cNvCxnSpPr/>
          <p:nvPr/>
        </p:nvCxnSpPr>
        <p:spPr>
          <a:xfrm flipH="1">
            <a:off x="1075765" y="4231341"/>
            <a:ext cx="1093694" cy="10309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05D1A5D-76F9-49B3-4294-4FD9F983D83A}"/>
              </a:ext>
            </a:extLst>
          </p:cNvPr>
          <p:cNvSpPr txBox="1"/>
          <p:nvPr/>
        </p:nvSpPr>
        <p:spPr>
          <a:xfrm>
            <a:off x="188259" y="5547501"/>
            <a:ext cx="3269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are creating object d1 and d2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1254910-A155-78C5-90F6-21069E2B2A72}"/>
              </a:ext>
            </a:extLst>
          </p:cNvPr>
          <p:cNvCxnSpPr/>
          <p:nvPr/>
        </p:nvCxnSpPr>
        <p:spPr>
          <a:xfrm>
            <a:off x="3021106" y="5109882"/>
            <a:ext cx="2169459" cy="8069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FC3FF03-0B6B-77BE-6DF4-08104CA298A0}"/>
              </a:ext>
            </a:extLst>
          </p:cNvPr>
          <p:cNvSpPr txBox="1"/>
          <p:nvPr/>
        </p:nvSpPr>
        <p:spPr>
          <a:xfrm>
            <a:off x="5369859" y="5916833"/>
            <a:ext cx="58681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Calling Method on object d1 and d2</a:t>
            </a:r>
          </a:p>
          <a:p>
            <a:r>
              <a:rPr lang="en-US" dirty="0"/>
              <a:t>It is similar to “</a:t>
            </a:r>
            <a:r>
              <a:rPr lang="en-US" dirty="0" err="1"/>
              <a:t>hello”.upper</a:t>
            </a:r>
            <a:r>
              <a:rPr lang="en-US" dirty="0"/>
              <a:t>() which we understood in strings </a:t>
            </a:r>
          </a:p>
        </p:txBody>
      </p:sp>
    </p:spTree>
    <p:extLst>
      <p:ext uri="{BB962C8B-B14F-4D97-AF65-F5344CB8AC3E}">
        <p14:creationId xmlns:p14="http://schemas.microsoft.com/office/powerpoint/2010/main" val="2753770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8D8AC-090F-B366-CBA0-AD212AB8D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What is the Class?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006370-AA5E-0D97-F604-50AE348948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9740" y="1690688"/>
            <a:ext cx="8247451" cy="310114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DBFDFC8-57F0-F36C-95DB-D982E40D8329}"/>
              </a:ext>
            </a:extLst>
          </p:cNvPr>
          <p:cNvCxnSpPr/>
          <p:nvPr/>
        </p:nvCxnSpPr>
        <p:spPr>
          <a:xfrm flipV="1">
            <a:off x="2554941" y="1138518"/>
            <a:ext cx="5647765" cy="12998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DD88057-6DD6-844D-D6D1-5092DB0D81B6}"/>
              </a:ext>
            </a:extLst>
          </p:cNvPr>
          <p:cNvSpPr txBox="1"/>
          <p:nvPr/>
        </p:nvSpPr>
        <p:spPr>
          <a:xfrm>
            <a:off x="8606118" y="1004047"/>
            <a:ext cx="374269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Within the class we will write  the</a:t>
            </a:r>
          </a:p>
          <a:p>
            <a:r>
              <a:rPr lang="en-US" dirty="0"/>
              <a:t>Method</a:t>
            </a:r>
          </a:p>
          <a:p>
            <a:endParaRPr lang="en-US" dirty="0"/>
          </a:p>
          <a:p>
            <a:r>
              <a:rPr lang="en-US" dirty="0"/>
              <a:t>Now what is Method vs function: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Methods are </a:t>
            </a:r>
            <a:r>
              <a:rPr lang="en-US" dirty="0" err="1"/>
              <a:t>createds</a:t>
            </a:r>
            <a:r>
              <a:rPr lang="en-US" dirty="0"/>
              <a:t> within the class</a:t>
            </a:r>
          </a:p>
          <a:p>
            <a:r>
              <a:rPr lang="en-US" dirty="0"/>
              <a:t>And functions are isolated logical </a:t>
            </a:r>
          </a:p>
          <a:p>
            <a:r>
              <a:rPr lang="en-US" dirty="0"/>
              <a:t>group of code. </a:t>
            </a:r>
          </a:p>
        </p:txBody>
      </p:sp>
    </p:spTree>
    <p:extLst>
      <p:ext uri="{BB962C8B-B14F-4D97-AF65-F5344CB8AC3E}">
        <p14:creationId xmlns:p14="http://schemas.microsoft.com/office/powerpoint/2010/main" val="3353779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56CF3-0CA3-A89E-75A1-95B3940B3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A1856-A725-2E09-351C-0F7110827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What is the </a:t>
            </a:r>
            <a:r>
              <a:rPr lang="en-US" b="1" dirty="0"/>
              <a:t>Constructor</a:t>
            </a:r>
            <a:r>
              <a:rPr lang="en-US" dirty="0"/>
              <a:t>?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A5657AC-90C4-AB43-F36D-0252C9D735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3690" y="1583111"/>
            <a:ext cx="6935077" cy="324886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F25A0FB-40CD-F60E-437F-377F2CA2C404}"/>
              </a:ext>
            </a:extLst>
          </p:cNvPr>
          <p:cNvCxnSpPr/>
          <p:nvPr/>
        </p:nvCxnSpPr>
        <p:spPr>
          <a:xfrm flipV="1">
            <a:off x="4096871" y="1690688"/>
            <a:ext cx="4276164" cy="8104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0EDE32D-AE31-1526-F6F3-4C1946BAB25B}"/>
              </a:ext>
            </a:extLst>
          </p:cNvPr>
          <p:cNvSpPr txBox="1"/>
          <p:nvPr/>
        </p:nvSpPr>
        <p:spPr>
          <a:xfrm>
            <a:off x="8624047" y="932329"/>
            <a:ext cx="336373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constructor</a:t>
            </a:r>
            <a:r>
              <a:rPr lang="en-US" dirty="0"/>
              <a:t> in Python is a special method __</a:t>
            </a:r>
            <a:r>
              <a:rPr lang="en-US" dirty="0" err="1"/>
              <a:t>init</a:t>
            </a:r>
            <a:r>
              <a:rPr lang="en-US" dirty="0"/>
              <a:t>__ that is automatically called when an object is created.</a:t>
            </a:r>
            <a:br>
              <a:rPr lang="en-US" dirty="0"/>
            </a:br>
            <a:r>
              <a:rPr lang="en-US" dirty="0"/>
              <a:t>It is used to initialize the object’s attributes (variables) with initial values.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6FD25E1-70EF-B2F6-27DC-5A9600D1E135}"/>
              </a:ext>
            </a:extLst>
          </p:cNvPr>
          <p:cNvCxnSpPr>
            <a:cxnSpLocks/>
          </p:cNvCxnSpPr>
          <p:nvPr/>
        </p:nvCxnSpPr>
        <p:spPr>
          <a:xfrm>
            <a:off x="4249271" y="2653553"/>
            <a:ext cx="3789496" cy="1220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F523C75-1157-E6AB-D5F7-A47EECA4A871}"/>
              </a:ext>
            </a:extLst>
          </p:cNvPr>
          <p:cNvSpPr txBox="1"/>
          <p:nvPr/>
        </p:nvSpPr>
        <p:spPr>
          <a:xfrm>
            <a:off x="8265459" y="3827929"/>
            <a:ext cx="3532121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 , Whenever write</a:t>
            </a:r>
          </a:p>
          <a:p>
            <a:r>
              <a:rPr lang="en-US" b="1" dirty="0"/>
              <a:t>d1 = Dog(“Rex”) </a:t>
            </a:r>
            <a:r>
              <a:rPr lang="en-US" dirty="0"/>
              <a:t>then it creates </a:t>
            </a:r>
          </a:p>
          <a:p>
            <a:r>
              <a:rPr lang="en-US" dirty="0"/>
              <a:t>the object d1 and  constructor </a:t>
            </a:r>
          </a:p>
          <a:p>
            <a:r>
              <a:rPr lang="en-US" dirty="0"/>
              <a:t>(__</a:t>
            </a:r>
            <a:r>
              <a:rPr lang="en-US" dirty="0" err="1"/>
              <a:t>init</a:t>
            </a:r>
            <a:r>
              <a:rPr lang="en-US" dirty="0"/>
              <a:t>__(d1, "Rex"))</a:t>
            </a:r>
          </a:p>
          <a:p>
            <a:r>
              <a:rPr lang="en-US" dirty="0"/>
              <a:t>Will be called</a:t>
            </a:r>
          </a:p>
          <a:p>
            <a:r>
              <a:rPr lang="en-US" dirty="0"/>
              <a:t>Whenever  you write </a:t>
            </a:r>
          </a:p>
          <a:p>
            <a:r>
              <a:rPr lang="en-US" b="1" dirty="0"/>
              <a:t>d2 = Dog(“Bruno”) </a:t>
            </a:r>
            <a:r>
              <a:rPr lang="en-US" dirty="0"/>
              <a:t>then it creates </a:t>
            </a:r>
          </a:p>
          <a:p>
            <a:r>
              <a:rPr lang="en-US" dirty="0"/>
              <a:t>the object d1 and  constructor </a:t>
            </a:r>
          </a:p>
          <a:p>
            <a:r>
              <a:rPr lang="en-US" dirty="0"/>
              <a:t>(__</a:t>
            </a:r>
            <a:r>
              <a:rPr lang="en-US" dirty="0" err="1"/>
              <a:t>init</a:t>
            </a:r>
            <a:r>
              <a:rPr lang="en-US" dirty="0"/>
              <a:t>__(d1, “Bruno"))</a:t>
            </a:r>
          </a:p>
          <a:p>
            <a:r>
              <a:rPr lang="en-US" dirty="0"/>
              <a:t>Will be called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A730BE-7AFD-1C96-4ABE-E4DF5C72A6CA}"/>
              </a:ext>
            </a:extLst>
          </p:cNvPr>
          <p:cNvSpPr txBox="1"/>
          <p:nvPr/>
        </p:nvSpPr>
        <p:spPr>
          <a:xfrm>
            <a:off x="880346" y="5292546"/>
            <a:ext cx="369088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self.name </a:t>
            </a:r>
            <a:r>
              <a:rPr lang="en-US" dirty="0"/>
              <a:t>is an instance variable </a:t>
            </a:r>
          </a:p>
          <a:p>
            <a:r>
              <a:rPr lang="en-US" dirty="0"/>
              <a:t>It belongs to that specific object only </a:t>
            </a:r>
          </a:p>
          <a:p>
            <a:r>
              <a:rPr lang="en-US" dirty="0"/>
              <a:t>d1.name = "Rex" — only for d1 </a:t>
            </a:r>
          </a:p>
          <a:p>
            <a:r>
              <a:rPr lang="en-US" dirty="0"/>
              <a:t>d2.name = "Bruno" — only for d2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8957A69-A03C-10E2-FEA5-98F3E5047E03}"/>
              </a:ext>
            </a:extLst>
          </p:cNvPr>
          <p:cNvCxnSpPr/>
          <p:nvPr/>
        </p:nvCxnSpPr>
        <p:spPr>
          <a:xfrm flipH="1">
            <a:off x="2008094" y="2779059"/>
            <a:ext cx="233082" cy="25134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2810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17517-CF19-13D9-4717-11942C47E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What is </a:t>
            </a:r>
            <a:r>
              <a:rPr lang="en-US" b="1" dirty="0"/>
              <a:t>self</a:t>
            </a:r>
            <a:r>
              <a:rPr lang="en-US" dirty="0"/>
              <a:t>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2CFE55-A83F-3209-460C-C36D504659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2859" y="1690688"/>
            <a:ext cx="5279127" cy="435133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206A9BB-E8E1-604D-BDF0-A42D2D9F1FFB}"/>
              </a:ext>
            </a:extLst>
          </p:cNvPr>
          <p:cNvCxnSpPr/>
          <p:nvPr/>
        </p:nvCxnSpPr>
        <p:spPr>
          <a:xfrm flipV="1">
            <a:off x="3048000" y="770965"/>
            <a:ext cx="4823012" cy="16943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A5F55F6-957F-1705-0CBD-0E3C1DF5FFDF}"/>
              </a:ext>
            </a:extLst>
          </p:cNvPr>
          <p:cNvSpPr txBox="1"/>
          <p:nvPr/>
        </p:nvSpPr>
        <p:spPr>
          <a:xfrm>
            <a:off x="8068235" y="636494"/>
            <a:ext cx="283481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When we run </a:t>
            </a:r>
          </a:p>
          <a:p>
            <a:r>
              <a:rPr lang="en-US" dirty="0"/>
              <a:t>d1 = dog(“Rex”)</a:t>
            </a:r>
          </a:p>
          <a:p>
            <a:r>
              <a:rPr lang="en-US" dirty="0"/>
              <a:t>Here d1 is the object </a:t>
            </a:r>
          </a:p>
          <a:p>
            <a:endParaRPr lang="en-US" dirty="0"/>
          </a:p>
          <a:p>
            <a:r>
              <a:rPr lang="en-US" dirty="0"/>
              <a:t>So now def _</a:t>
            </a:r>
            <a:r>
              <a:rPr lang="en-US" dirty="0" err="1"/>
              <a:t>init</a:t>
            </a:r>
            <a:r>
              <a:rPr lang="en-US" dirty="0"/>
              <a:t>_(d1,”Rex”):</a:t>
            </a:r>
          </a:p>
          <a:p>
            <a:r>
              <a:rPr lang="en-US" dirty="0"/>
              <a:t>   self.name = “Rex”</a:t>
            </a:r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1856A3B-6AA5-94E8-D6FB-BF320187BB70}"/>
              </a:ext>
            </a:extLst>
          </p:cNvPr>
          <p:cNvCxnSpPr>
            <a:cxnSpLocks/>
          </p:cNvCxnSpPr>
          <p:nvPr/>
        </p:nvCxnSpPr>
        <p:spPr>
          <a:xfrm flipV="1">
            <a:off x="367553" y="2779059"/>
            <a:ext cx="11295529" cy="896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FD7D6E5-8712-3F6F-AC38-C9FB1FAA3AA3}"/>
              </a:ext>
            </a:extLst>
          </p:cNvPr>
          <p:cNvSpPr txBox="1"/>
          <p:nvPr/>
        </p:nvSpPr>
        <p:spPr>
          <a:xfrm>
            <a:off x="8068235" y="3218329"/>
            <a:ext cx="3725700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Now when you execute,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Dog.bark</a:t>
            </a:r>
            <a:r>
              <a:rPr lang="en-US" dirty="0"/>
              <a:t>(d1)</a:t>
            </a:r>
          </a:p>
          <a:p>
            <a:r>
              <a:rPr lang="en-US" dirty="0"/>
              <a:t>In this we are calling Class Dog </a:t>
            </a:r>
          </a:p>
          <a:p>
            <a:r>
              <a:rPr lang="en-US" dirty="0"/>
              <a:t>Where we are calling bark as method </a:t>
            </a:r>
          </a:p>
          <a:p>
            <a:r>
              <a:rPr lang="en-US" dirty="0"/>
              <a:t>And d1 as object </a:t>
            </a:r>
          </a:p>
          <a:p>
            <a:endParaRPr lang="en-US" dirty="0"/>
          </a:p>
          <a:p>
            <a:r>
              <a:rPr lang="en-US" dirty="0"/>
              <a:t>So request will go to Dog class</a:t>
            </a:r>
          </a:p>
          <a:p>
            <a:r>
              <a:rPr lang="en-US" dirty="0"/>
              <a:t>Here ,</a:t>
            </a:r>
            <a:br>
              <a:rPr lang="en-US" dirty="0"/>
            </a:br>
            <a:r>
              <a:rPr lang="en-US" dirty="0"/>
              <a:t>bark(d1)    #self = d1</a:t>
            </a:r>
          </a:p>
          <a:p>
            <a:r>
              <a:rPr lang="en-US" dirty="0"/>
              <a:t>   print(“Rex”)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E800A11-B8A1-4737-5172-46F5F5B2971B}"/>
              </a:ext>
            </a:extLst>
          </p:cNvPr>
          <p:cNvCxnSpPr/>
          <p:nvPr/>
        </p:nvCxnSpPr>
        <p:spPr>
          <a:xfrm>
            <a:off x="2635624" y="3056965"/>
            <a:ext cx="5351929" cy="21873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0812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1F4EE-9420-19FE-6EBE-EDA688B86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247" y="165845"/>
            <a:ext cx="10515600" cy="1325563"/>
          </a:xfrm>
        </p:spPr>
        <p:txBody>
          <a:bodyPr/>
          <a:lstStyle/>
          <a:p>
            <a:r>
              <a:rPr lang="en-US" dirty="0"/>
              <a:t>4. What is an </a:t>
            </a:r>
            <a:r>
              <a:rPr lang="en-US" b="1" dirty="0"/>
              <a:t>Object / Instance</a:t>
            </a:r>
            <a:r>
              <a:rPr lang="en-US" dirty="0"/>
              <a:t>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A7C313-1E91-0701-FAD7-D769A5A04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53" y="1825625"/>
            <a:ext cx="5668166" cy="239110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36CF00C-5296-79F9-377B-FC1A2AA508C5}"/>
              </a:ext>
            </a:extLst>
          </p:cNvPr>
          <p:cNvCxnSpPr/>
          <p:nvPr/>
        </p:nvCxnSpPr>
        <p:spPr>
          <a:xfrm flipV="1">
            <a:off x="2034988" y="1353671"/>
            <a:ext cx="4975412" cy="6544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4F77C68-A822-9A09-1E18-6C532E761BB8}"/>
              </a:ext>
            </a:extLst>
          </p:cNvPr>
          <p:cNvSpPr txBox="1"/>
          <p:nvPr/>
        </p:nvSpPr>
        <p:spPr>
          <a:xfrm>
            <a:off x="7261412" y="1228165"/>
            <a:ext cx="3382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is the object1 we are creating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15ED9F-3D20-7680-BE79-CFCD927B2DEC}"/>
              </a:ext>
            </a:extLst>
          </p:cNvPr>
          <p:cNvSpPr txBox="1"/>
          <p:nvPr/>
        </p:nvSpPr>
        <p:spPr>
          <a:xfrm>
            <a:off x="7261412" y="2114507"/>
            <a:ext cx="3382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is the object2 we are creating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2D476B5-B613-36DD-B332-6B1D09F244C0}"/>
              </a:ext>
            </a:extLst>
          </p:cNvPr>
          <p:cNvCxnSpPr/>
          <p:nvPr/>
        </p:nvCxnSpPr>
        <p:spPr>
          <a:xfrm>
            <a:off x="2205318" y="2268071"/>
            <a:ext cx="48050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4312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52088-096E-E1C8-7E64-20E401866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What is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AF345-F5E7-69DD-097D-683937030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32D700-CEF3-5447-AED0-A19678374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379" y="2581156"/>
            <a:ext cx="5982535" cy="1695687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6D3225E-5FD3-CFDC-8C60-A0795C98785F}"/>
              </a:ext>
            </a:extLst>
          </p:cNvPr>
          <p:cNvCxnSpPr/>
          <p:nvPr/>
        </p:nvCxnSpPr>
        <p:spPr>
          <a:xfrm flipV="1">
            <a:off x="6472518" y="1416424"/>
            <a:ext cx="1622611" cy="1524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41C1E66-71D4-5B69-F67E-C22EFEE3CD1C}"/>
              </a:ext>
            </a:extLst>
          </p:cNvPr>
          <p:cNvSpPr txBox="1"/>
          <p:nvPr/>
        </p:nvSpPr>
        <p:spPr>
          <a:xfrm>
            <a:off x="8247529" y="1093695"/>
            <a:ext cx="29852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you run d1.bark()</a:t>
            </a:r>
          </a:p>
          <a:p>
            <a:r>
              <a:rPr lang="en-US" dirty="0"/>
              <a:t>You are </a:t>
            </a:r>
            <a:r>
              <a:rPr lang="en-US" b="1" dirty="0"/>
              <a:t>calling the method bark using the object d1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990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303000F-7283-86C1-47B8-F517CCA2B5BE}"/>
              </a:ext>
            </a:extLst>
          </p:cNvPr>
          <p:cNvSpPr txBox="1"/>
          <p:nvPr/>
        </p:nvSpPr>
        <p:spPr>
          <a:xfrm>
            <a:off x="582706" y="41148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## What Happens When `d1.bark()` is Called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BD2AE8-5C74-743C-34ED-7F9D02C85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29" y="1067636"/>
            <a:ext cx="4982270" cy="40772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A71A544-6C6F-9F0E-14A2-98EC131FF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7402" y="1581517"/>
            <a:ext cx="4020111" cy="276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433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14B32-025D-9918-3838-DE2E82883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Vs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5308D-7F42-2FEE-E227-82F262EEB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 → stands ALONE, outside a class </a:t>
            </a:r>
          </a:p>
          <a:p>
            <a:r>
              <a:rPr lang="en-US" dirty="0"/>
              <a:t>Method → lives INSIDE a class, belongs to an object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A79D9A-CA73-2D24-A3C9-D63C4AD8F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426" y="3429000"/>
            <a:ext cx="4744112" cy="22386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5094277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AEEC2-551F-7848-47F6-2C232B479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977E0-E95D-77DC-15C0-CB2A6445F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520D51-7554-33A7-D815-E2A2A5A7D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252" y="457368"/>
            <a:ext cx="5315692" cy="562053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671983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0B8D-542B-7E9F-26C1-02DA8A932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that constructer will be called as soon as object is created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C3677-0F7D-AB3B-935D-89C7C6F08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898F2D-C8DE-98DE-60A3-81A8B22EA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860" y="1825625"/>
            <a:ext cx="8659433" cy="385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474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7393E-4977-A3E7-2A12-FCCA1D54B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FE6A2-F26C-3993-1988-4327A66FE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8DE7C9-E048-A46F-B3C0-5F4A4EE74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869" y="209100"/>
            <a:ext cx="8649907" cy="64397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80CF4D-D4D8-278D-3D8E-A042539A53B9}"/>
              </a:ext>
            </a:extLst>
          </p:cNvPr>
          <p:cNvSpPr txBox="1"/>
          <p:nvPr/>
        </p:nvSpPr>
        <p:spPr>
          <a:xfrm>
            <a:off x="9493624" y="2501153"/>
            <a:ext cx="24874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Proof that if you call</a:t>
            </a:r>
          </a:p>
          <a:p>
            <a:r>
              <a:rPr lang="en-US" dirty="0"/>
              <a:t>a method in constructor</a:t>
            </a:r>
          </a:p>
          <a:p>
            <a:r>
              <a:rPr lang="en-US" dirty="0"/>
              <a:t>It will also be executed</a:t>
            </a:r>
          </a:p>
          <a:p>
            <a:r>
              <a:rPr lang="en-US" dirty="0"/>
              <a:t>When you create object.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ABB939C-55FB-4F9A-C786-D3659AE6BE85}"/>
              </a:ext>
            </a:extLst>
          </p:cNvPr>
          <p:cNvCxnSpPr/>
          <p:nvPr/>
        </p:nvCxnSpPr>
        <p:spPr>
          <a:xfrm>
            <a:off x="3021106" y="1690688"/>
            <a:ext cx="6239435" cy="10525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37427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F7CE3-6E7B-9032-236B-234F58E4F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85523-BD58-A5F7-7817-D010D188F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455D72-BAB4-C99A-4223-5D0649EFE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021" y="838150"/>
            <a:ext cx="9145276" cy="47155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15BBF7-E940-9A2C-DA24-D0855951CDE2}"/>
              </a:ext>
            </a:extLst>
          </p:cNvPr>
          <p:cNvSpPr txBox="1"/>
          <p:nvPr/>
        </p:nvSpPr>
        <p:spPr>
          <a:xfrm>
            <a:off x="9493624" y="2501153"/>
            <a:ext cx="26439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Proof that if you </a:t>
            </a:r>
            <a:r>
              <a:rPr lang="en-US" dirty="0" err="1"/>
              <a:t>dont</a:t>
            </a:r>
            <a:r>
              <a:rPr lang="en-US" dirty="0"/>
              <a:t> call</a:t>
            </a:r>
          </a:p>
          <a:p>
            <a:r>
              <a:rPr lang="en-US" dirty="0"/>
              <a:t>a method in constructor</a:t>
            </a:r>
          </a:p>
          <a:p>
            <a:r>
              <a:rPr lang="en-US" dirty="0"/>
              <a:t>It will not be executed</a:t>
            </a:r>
          </a:p>
          <a:p>
            <a:r>
              <a:rPr lang="en-US" dirty="0"/>
              <a:t>When you create object.</a:t>
            </a:r>
          </a:p>
        </p:txBody>
      </p:sp>
    </p:spTree>
    <p:extLst>
      <p:ext uri="{BB962C8B-B14F-4D97-AF65-F5344CB8AC3E}">
        <p14:creationId xmlns:p14="http://schemas.microsoft.com/office/powerpoint/2010/main" val="20431482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811B1-E8A6-AFB1-6827-B306AD32B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647" y="-313531"/>
            <a:ext cx="10515600" cy="1458119"/>
          </a:xfrm>
        </p:spPr>
        <p:txBody>
          <a:bodyPr/>
          <a:lstStyle/>
          <a:p>
            <a:r>
              <a:rPr lang="en-US" dirty="0"/>
              <a:t>Dog pricing using 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B752B-E26F-7041-29CF-98A82B662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7CA7C-31A4-044B-3DA5-97842010E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70" y="761558"/>
            <a:ext cx="7806249" cy="6096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753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1674</TotalTime>
  <Words>473</Words>
  <Application>Microsoft Office PowerPoint</Application>
  <PresentationFormat>Widescreen</PresentationFormat>
  <Paragraphs>70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Class</vt:lpstr>
      <vt:lpstr>What is the class?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1. What is the Class?</vt:lpstr>
      <vt:lpstr>2. What is the Constructor?</vt:lpstr>
      <vt:lpstr>3. What is self?</vt:lpstr>
      <vt:lpstr>4. What is an Object / Instance?</vt:lpstr>
      <vt:lpstr>4. What is Method</vt:lpstr>
      <vt:lpstr>PowerPoint Presentation</vt:lpstr>
      <vt:lpstr>METHOD Vs FUNCTION</vt:lpstr>
      <vt:lpstr>PowerPoint Presentation</vt:lpstr>
      <vt:lpstr>Proof that constructer will be called as soon as object is created</vt:lpstr>
      <vt:lpstr>PowerPoint Presentation</vt:lpstr>
      <vt:lpstr>PowerPoint Presentation</vt:lpstr>
      <vt:lpstr>Dog pricing using  class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akshat gupta</dc:creator>
  <cp:lastModifiedBy>akshat gupta</cp:lastModifiedBy>
  <cp:revision>3</cp:revision>
  <dcterms:created xsi:type="dcterms:W3CDTF">2026-03-26T07:34:57Z</dcterms:created>
  <dcterms:modified xsi:type="dcterms:W3CDTF">2026-03-27T11:29:46Z</dcterms:modified>
</cp:coreProperties>
</file>