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>
            <a:solidFill>
              <a:srgbClr val="F9731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855F7">
              <a:alpha val="10000"/>
            </a:srgbClr>
          </a:solidFill>
          <a:ln w="25400">
            <a:solidFill>
              <a:srgbClr val="A855F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18288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880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2011680" cy="566928"/>
          </a:xfrm>
          <a:prstGeom prst="roundRect">
            <a:avLst>
              <a:gd name="adj" fmla="val 1935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9572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06040" y="2395728"/>
            <a:ext cx="2194560" cy="566928"/>
          </a:xfrm>
          <a:prstGeom prst="roundRect">
            <a:avLst>
              <a:gd name="adj" fmla="val 19355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3957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WHILE Loop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9144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1089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same thing again and again...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going insane 🧠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1480" y="3840480"/>
            <a:ext cx="2029968" cy="402336"/>
          </a:xfrm>
          <a:prstGeom prst="rect">
            <a:avLst/>
          </a:prstGeom>
          <a:solidFill>
            <a:srgbClr val="21262D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84048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Funny Analogies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87752" y="3840480"/>
            <a:ext cx="2029968" cy="402336"/>
          </a:xfrm>
          <a:prstGeom prst="rect">
            <a:avLst/>
          </a:prstGeom>
          <a:solidFill>
            <a:srgbClr val="21262D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87752" y="384048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Deep Examples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64024" y="3840480"/>
            <a:ext cx="2029968" cy="402336"/>
          </a:xfrm>
          <a:prstGeom prst="rect">
            <a:avLst/>
          </a:prstGeom>
          <a:solidFill>
            <a:srgbClr val="21262D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384048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🆚 For vs While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0296" y="3840480"/>
            <a:ext cx="2029968" cy="402336"/>
          </a:xfrm>
          <a:prstGeom prst="rect">
            <a:avLst/>
          </a:prstGeom>
          <a:solidFill>
            <a:srgbClr val="21262D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0296" y="384048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Practice + Answers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0740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3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range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(10):  </a:t>
            </a:r>
            <a:pPr indent="0" marL="0">
              <a:buNone/>
            </a:pPr>
            <a:r>
              <a:rPr lang="en-US" sz="13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eat_samosa()    </a:t>
            </a:r>
            <a:pPr indent="0" marL="0">
              <a:buNone/>
            </a:pPr>
            <a:r>
              <a:rPr lang="en-US" sz="13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</a:t>
            </a:r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hungry:  </a:t>
            </a:r>
            <a:pPr indent="0" marL="0">
              <a:buNone/>
            </a:pPr>
            <a:r>
              <a:rPr lang="en-US" sz="13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eat_more()  </a:t>
            </a:r>
            <a:pPr indent="0" marL="0">
              <a:buNone/>
            </a:pPr>
            <a:r>
              <a:rPr lang="en-US" sz="1350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</a:t>
            </a:r>
            <a:pPr indent="0" marL="0"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Loops 🐍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What is a Loop? — The Big Picture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learn FOR and WHILE, let's understand WHY loops exist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749808"/>
          </a:xfrm>
          <a:prstGeom prst="rect">
            <a:avLst/>
          </a:prstGeom>
          <a:solidFill>
            <a:srgbClr val="0A1A1A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91440" cy="7498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1907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is a way to repeat a block of code multiple times without copy-pasting it. It runs until a condition is met or a list is exhausted.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4023360" cy="2633472"/>
          </a:xfrm>
          <a:prstGeom prst="rect">
            <a:avLst/>
          </a:prstGeom>
          <a:solidFill>
            <a:srgbClr val="1A1200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86000"/>
            <a:ext cx="402336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Real Life Loop — You &amp; Snooze Button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7614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Alarm rings → You hit snooze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1821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Alarm rings again → You hit snooze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602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Alarm rings again → You hit snooze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4023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Alarm rings again → You FINALLY wake up 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44439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That's a LOOP! Repeats until condition met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98848" y="2286000"/>
            <a:ext cx="4325112" cy="2633472"/>
          </a:xfrm>
          <a:prstGeom prst="rect">
            <a:avLst/>
          </a:prstGeom>
          <a:solidFill>
            <a:srgbClr val="0A0A1A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98848" y="2286000"/>
            <a:ext cx="4325112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2286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Without Loop vs With Loop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761488"/>
            <a:ext cx="1920240" cy="1143000"/>
          </a:xfrm>
          <a:prstGeom prst="rect">
            <a:avLst/>
          </a:prstGeom>
          <a:solidFill>
            <a:srgbClr val="0E0E2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761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Loop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30175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print("Hi")
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print("Hi")
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print("Hi")
</a:t>
            </a:r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😱 100x?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22592" y="2761488"/>
            <a:ext cx="1691640" cy="1143000"/>
          </a:xfrm>
          <a:prstGeom prst="rect">
            <a:avLst/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2761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30175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
</a:t>
            </a:r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range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(100):
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print("Hi")
</a:t>
            </a:r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😎 Done!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645152"/>
            <a:ext cx="4023360" cy="384048"/>
          </a:xfrm>
          <a:prstGeom prst="rect">
            <a:avLst/>
          </a:prstGeom>
          <a:solidFill>
            <a:srgbClr val="21262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 — Repeats a FIXED number of times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98848" y="4645152"/>
            <a:ext cx="4325112" cy="384048"/>
          </a:xfrm>
          <a:prstGeom prst="rect">
            <a:avLst/>
          </a:prstGeom>
          <a:solidFill>
            <a:srgbClr val="21262D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90288" y="46451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WHILE Loop — Repeats UNTIL condition is false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C0F00"/>
          </a:solidFill>
          <a:ln w="12700">
            <a:solidFill>
              <a:srgbClr val="1C0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— What is it?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772400" y="256032"/>
            <a:ext cx="1170432" cy="50292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25603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777240"/>
          </a:xfrm>
          <a:prstGeom prst="rect">
            <a:avLst/>
          </a:prstGeom>
          <a:solidFill>
            <a:srgbClr val="1C0F0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07008"/>
            <a:ext cx="9144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6187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repeats a block of code for EACH item in a sequence (list, range, string). You KNOW how many times it will run.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4023360" cy="2816352"/>
          </a:xfrm>
          <a:prstGeom prst="rect">
            <a:avLst/>
          </a:prstGeom>
          <a:solidFill>
            <a:srgbClr val="1A0F00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03120"/>
            <a:ext cx="4023360" cy="43891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03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Analogy: Eating Golgappas!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PLATE of 6 Golgappas.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1st Golgappa → Eat it → 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28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2nd Golgappa → Eat it → 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12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3rd Golgappa → Eat it → 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96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…(repeat for ALL golgappas)…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Golgappa eaten → PLATE EMPTY → STOP 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FOR loop = "FOR each item in the list, do this"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98848" y="2103120"/>
            <a:ext cx="4325112" cy="2816352"/>
          </a:xfrm>
          <a:prstGeom prst="rect">
            <a:avLst/>
          </a:prstGeom>
          <a:solidFill>
            <a:srgbClr val="0A0A05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98848" y="2103120"/>
            <a:ext cx="4325112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21031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FOR Loop — Syntax &amp; Code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2606040"/>
            <a:ext cx="4114800" cy="713232"/>
          </a:xfrm>
          <a:prstGeom prst="rect">
            <a:avLst/>
          </a:prstGeom>
          <a:solidFill>
            <a:srgbClr val="0606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6243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8529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</a:t>
            </a:r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to repeat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0" y="3401568"/>
            <a:ext cx="4114800" cy="1444752"/>
          </a:xfrm>
          <a:prstGeom prst="rect">
            <a:avLst/>
          </a:prstGeom>
          <a:solidFill>
            <a:srgbClr val="08080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4107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GOLGAPPA EXAMPLE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657600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golgappas = [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"G1","G2","G3","G4","G5","G6"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piece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golgappas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(f"Eating {piece} 😋")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 with range() — The Most Common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is the best friend of FOR loop. They're inseparable. Like chai and samosa. ☕🥟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713232"/>
          </a:xfrm>
          <a:prstGeom prst="rect">
            <a:avLst/>
          </a:prstGeom>
          <a:solidFill>
            <a:srgbClr val="1A0A0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range(stop)  |  range(start, stop)  |  range(start, stop, step)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range(5) generates → 0, 1, 2, 3, 4    (stops BEFORE 5 — like a bouncer who says "5 is not on the list")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2788920" cy="2697480"/>
          </a:xfrm>
          <a:prstGeom prst="rect">
            <a:avLst/>
          </a:prstGeom>
          <a:solidFill>
            <a:srgbClr val="21262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40280"/>
            <a:ext cx="278892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range(5)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" y="27066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0, Stop: 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9768" y="296265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Like counting fingers on one hand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255264"/>
            <a:ext cx="2606040" cy="1572768"/>
          </a:xfrm>
          <a:prstGeom prst="rect">
            <a:avLst/>
          </a:prstGeom>
          <a:solidFill>
            <a:srgbClr val="050A0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10128"/>
            <a:ext cx="245059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1 2 3 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64408" y="2240280"/>
            <a:ext cx="2788920" cy="2697480"/>
          </a:xfrm>
          <a:prstGeom prst="rect">
            <a:avLst/>
          </a:prstGeom>
          <a:solidFill>
            <a:srgbClr val="21262D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2240280"/>
            <a:ext cx="278892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range(1, 6)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74136" y="27066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1, Stop: 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74136" y="296265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Like printing 1st to 5th rank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55848" y="3255264"/>
            <a:ext cx="2606040" cy="1572768"/>
          </a:xfrm>
          <a:prstGeom prst="rect">
            <a:avLst/>
          </a:prstGeom>
          <a:solidFill>
            <a:srgbClr val="050A0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3310128"/>
            <a:ext cx="245059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6):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2 3 4 5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08776" y="2240280"/>
            <a:ext cx="2788920" cy="2697480"/>
          </a:xfrm>
          <a:prstGeom prst="rect">
            <a:avLst/>
          </a:prstGeom>
          <a:solidFill>
            <a:srgbClr val="21262D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08776" y="2240280"/>
            <a:ext cx="2788920" cy="411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 10, 2)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18504" y="270662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0, Stop: 10, Step: 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18504" y="296265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Like hopping steps — skip one each time!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0216" y="3255264"/>
            <a:ext cx="2606040" cy="1572768"/>
          </a:xfrm>
          <a:prstGeom prst="rect">
            <a:avLst/>
          </a:prstGeom>
          <a:solidFill>
            <a:srgbClr val="050A0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1656" y="3310128"/>
            <a:ext cx="245059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(0,10,2):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 2 4 6 8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1A0800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8912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 Tip: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range() never includes the STOP value. range(5) gives 0-4, NOT 0-5. Python stops before the boundary — like stopping before a RED light! 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 — Looping Over Lists &amp; Strings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works on ANYTHING you can iterate over — lists, strings, even your enemies list 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14800" cy="3493008"/>
          </a:xfrm>
          <a:prstGeom prst="rect">
            <a:avLst/>
          </a:prstGeom>
          <a:solidFill>
            <a:srgbClr val="160A0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1148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Loop Over a LIST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Analogy: Reading out your cricket team members one by 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267712"/>
            <a:ext cx="3977640" cy="1828800"/>
          </a:xfrm>
          <a:prstGeom prst="rect">
            <a:avLst/>
          </a:prstGeom>
          <a:solidFill>
            <a:srgbClr val="0505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22576"/>
            <a:ext cx="380390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cricket team
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= [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"Rohit","Virat",
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"Dhoni","Bumrah"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
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(f"Playing: {player}")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4151376"/>
            <a:ext cx="3977640" cy="658368"/>
          </a:xfrm>
          <a:prstGeom prst="rect">
            <a:avLst/>
          </a:prstGeom>
          <a:solidFill>
            <a:srgbClr val="060A0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1696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370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Playing: Rohit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Playing: Virat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Playing: Dhoni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Playing: Bumrah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4251960" cy="3493008"/>
          </a:xfrm>
          <a:prstGeom prst="rect">
            <a:avLst/>
          </a:prstGeom>
          <a:solidFill>
            <a:srgbClr val="00080F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417320"/>
            <a:ext cx="4251960" cy="4114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173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Loop Over a STRING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188366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Analogy: Reading your name letter by letter to a call center 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36008" y="2267712"/>
            <a:ext cx="4114800" cy="1828800"/>
          </a:xfrm>
          <a:prstGeom prst="rect">
            <a:avLst/>
          </a:prstGeom>
          <a:solidFill>
            <a:srgbClr val="000A0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2322576"/>
            <a:ext cx="39319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over string
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
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(letter, end=" ")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36008" y="4151376"/>
            <a:ext cx="4114800" cy="658368"/>
          </a:xfrm>
          <a:prstGeom prst="rect">
            <a:avLst/>
          </a:prstGeom>
          <a:solidFill>
            <a:srgbClr val="030A0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41696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27448" y="43708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Y T H O 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50A2A"/>
          </a:solidFill>
          <a:ln w="12700">
            <a:solidFill>
              <a:srgbClr val="150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— What is it?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772400" y="256032"/>
            <a:ext cx="1170432" cy="502920"/>
          </a:xfrm>
          <a:prstGeom prst="roundRect">
            <a:avLst>
              <a:gd name="adj" fmla="val 18182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256032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777240"/>
          </a:xfrm>
          <a:prstGeom prst="rect">
            <a:avLst/>
          </a:prstGeom>
          <a:solidFill>
            <a:srgbClr val="150A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07008"/>
            <a:ext cx="91440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6187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repeats a block of code as long as a condition is TRUE. You DON'T always know how many times it will run — it runs until condition becomes false.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4023360" cy="2816352"/>
          </a:xfrm>
          <a:prstGeom prst="rect">
            <a:avLst/>
          </a:prstGeom>
          <a:solidFill>
            <a:srgbClr val="150A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03120"/>
            <a:ext cx="4023360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031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Analogy: Guessing WiFi Password!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trying passwords WHILE you haven't connected: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'password123' → ❌ Wrong → Try again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55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'qwerty' → ❌ Wrong → Try again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398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'ilovechai' → ❌ Wrong → Try again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23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'rohit@1234' → ✅ Connected! → STOP!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07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 had NO idea how many tries needed!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WHILE = "Keep doing this WHILE condition is true"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98848" y="2103120"/>
            <a:ext cx="4325112" cy="2816352"/>
          </a:xfrm>
          <a:prstGeom prst="rect">
            <a:avLst/>
          </a:prstGeom>
          <a:solidFill>
            <a:srgbClr val="150A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98848" y="2103120"/>
            <a:ext cx="4325112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90288" y="21031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WHILE Loop — Syntax &amp; Code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2606040"/>
            <a:ext cx="4114800" cy="713232"/>
          </a:xfrm>
          <a:prstGeom prst="rect">
            <a:avLst/>
          </a:prstGeom>
          <a:solidFill>
            <a:srgbClr val="0A030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6243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285292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 True: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 to repeat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0" y="3401568"/>
            <a:ext cx="4114800" cy="1444752"/>
          </a:xfrm>
          <a:prstGeom prst="rect">
            <a:avLst/>
          </a:prstGeom>
          <a:solidFill>
            <a:srgbClr val="05000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4107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PASSWORD EXAMPLE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657600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 = </a:t>
            </a:r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
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 +=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try password...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correct: connected=True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WHILE Loop — 3 Real Examples You'll Actually Use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shines when you don't know how many times you need to repeat 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3493008"/>
          </a:xfrm>
          <a:prstGeom prst="rect">
            <a:avLst/>
          </a:prstGeom>
          <a:solidFill>
            <a:srgbClr val="150A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69748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Countdown Timer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1847088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Like a rocket launch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your exam countdown!)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377440"/>
            <a:ext cx="2578608" cy="1920240"/>
          </a:xfrm>
          <a:prstGeom prst="rect">
            <a:avLst/>
          </a:prstGeom>
          <a:solidFill>
            <a:srgbClr val="05001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432304"/>
            <a:ext cx="239572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
</a:t>
            </a:r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&gt;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-=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print("Blast Off! 🚀")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4352544"/>
            <a:ext cx="2578608" cy="502920"/>
          </a:xfrm>
          <a:prstGeom prst="rect">
            <a:avLst/>
          </a:prstGeom>
          <a:solidFill>
            <a:srgbClr val="03100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37083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5 4 3 2 1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Blast Off! 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54680" y="1417320"/>
            <a:ext cx="2697480" cy="3493008"/>
          </a:xfrm>
          <a:prstGeom prst="rect">
            <a:avLst/>
          </a:prstGeom>
          <a:solidFill>
            <a:srgbClr val="150A2A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417320"/>
            <a:ext cx="269748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1417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Guess the Number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27832" y="1847088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Like asking your friend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he hid your charger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2377440"/>
            <a:ext cx="2578608" cy="1920240"/>
          </a:xfrm>
          <a:prstGeom prst="rect">
            <a:avLst/>
          </a:prstGeom>
          <a:solidFill>
            <a:srgbClr val="15001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432304"/>
            <a:ext cx="239572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
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!= secret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guess =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("Guess: "))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print("Correct! 🎉")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18688" y="4352544"/>
            <a:ext cx="2578608" cy="502920"/>
          </a:xfrm>
          <a:prstGeom prst="rect">
            <a:avLst/>
          </a:prstGeom>
          <a:solidFill>
            <a:srgbClr val="03100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437083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Loops until user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guesses 42! 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1417320"/>
            <a:ext cx="2834640" cy="3493008"/>
          </a:xfrm>
          <a:prstGeom prst="rect">
            <a:avLst/>
          </a:prstGeom>
          <a:solidFill>
            <a:srgbClr val="150A2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417320"/>
            <a:ext cx="2834640" cy="3840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141732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ATM Withdrawal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62472" y="184708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Keep withdrawing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while you have any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53328" y="2377440"/>
            <a:ext cx="2697480" cy="1920240"/>
          </a:xfrm>
          <a:prstGeom prst="rect">
            <a:avLst/>
          </a:prstGeom>
          <a:solidFill>
            <a:srgbClr val="150A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432304"/>
            <a:ext cx="254203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
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
</a:t>
            </a:r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&gt;= withdraw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balance -= withdraw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(balance)
</a:t>
            </a:r>
            <a:pPr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print("Out of cash 😭")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53328" y="4352544"/>
            <a:ext cx="2697480" cy="502920"/>
          </a:xfrm>
          <a:prstGeom prst="rect">
            <a:avLst/>
          </a:prstGeom>
          <a:solidFill>
            <a:srgbClr val="031003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437083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→ Out of cash 😭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🆚  FOR vs WHILE — The Ultimate Showdown!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wrong is like using a fork to eat soup. Let's fix that. 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60520" y="1719072"/>
            <a:ext cx="822960" cy="8229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17190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3794760" cy="3547872"/>
          </a:xfrm>
          <a:prstGeom prst="rect">
            <a:avLst/>
          </a:prstGeom>
          <a:solidFill>
            <a:srgbClr val="1A0A0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379476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173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96596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when you KNOW how many times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240487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Looping over a list/string/range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" y="284378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Counting from 1 to 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" y="32826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Visiting every item in a collection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" y="372160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for unknown repetitions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657600" cy="658368"/>
          </a:xfrm>
          <a:prstGeom prst="rect">
            <a:avLst/>
          </a:prstGeom>
          <a:solidFill>
            <a:srgbClr val="1005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224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FOR = A school bus driver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" y="44622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EXACT same stops every day. He knows where he's going!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417320"/>
            <a:ext cx="3794760" cy="3547872"/>
          </a:xfrm>
          <a:prstGeom prst="rect">
            <a:avLst/>
          </a:prstGeom>
          <a:solidFill>
            <a:srgbClr val="150A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74920" y="1417320"/>
            <a:ext cx="3794760" cy="47548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14173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WHILE Loop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196596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when you DON'T know how many times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66360" y="240487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Waiting for user input or event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66360" y="284378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Running until a condition changes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66360" y="32826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Game loops, server loops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66360" y="372160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of INFINITE loop if condition never false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38928" y="4206240"/>
            <a:ext cx="3657600" cy="658368"/>
          </a:xfrm>
          <a:prstGeom prst="rect">
            <a:avLst/>
          </a:prstGeom>
          <a:solidFill>
            <a:srgbClr val="150A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42245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WHILE = You eating until full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30368" y="44622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say 'I'll eat exactly 7 bites'. You eat WHILE hungry!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When To Use FOR, When To Use WHILE? — Decision Guide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guide and you'll never confuse them again. Guaranteed or your money back! 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594360"/>
          </a:xfrm>
          <a:prstGeom prst="rect">
            <a:avLst/>
          </a:prstGeom>
          <a:solidFill>
            <a:srgbClr val="21262D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81328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yourself: "Do I know how many times to repeat?"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4114800" cy="2743200"/>
          </a:xfrm>
          <a:prstGeom prst="rect">
            <a:avLst/>
          </a:prstGeom>
          <a:solidFill>
            <a:srgbClr val="120A0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48840"/>
            <a:ext cx="41148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 → Use FOR Loop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624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Print numbers 1 to 100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78608" y="2651760"/>
            <a:ext cx="1755648" cy="347472"/>
          </a:xfrm>
          <a:prstGeom prst="rect">
            <a:avLst/>
          </a:prstGeom>
          <a:solidFill>
            <a:srgbClr val="080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26517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101):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3127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Print all names in a list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78608" y="3154680"/>
            <a:ext cx="1755648" cy="347472"/>
          </a:xfrm>
          <a:prstGeom prst="rect">
            <a:avLst/>
          </a:prstGeom>
          <a:solidFill>
            <a:srgbClr val="080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154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 in names: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630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Count vowels in a word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78608" y="3657600"/>
            <a:ext cx="1755648" cy="347472"/>
          </a:xfrm>
          <a:prstGeom prst="rect">
            <a:avLst/>
          </a:prstGeom>
          <a:solidFill>
            <a:srgbClr val="080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36576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letter in word: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1330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Print 5 stars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78608" y="4160520"/>
            <a:ext cx="1755648" cy="347472"/>
          </a:xfrm>
          <a:prstGeom prst="rect">
            <a:avLst/>
          </a:prstGeom>
          <a:solidFill>
            <a:srgbClr val="0804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41605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148840"/>
            <a:ext cx="4114800" cy="2743200"/>
          </a:xfrm>
          <a:prstGeom prst="rect">
            <a:avLst/>
          </a:prstGeom>
          <a:solidFill>
            <a:srgbClr val="150A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148840"/>
            <a:ext cx="411480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148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NO → Use WHILE Loop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26243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Keep asking for password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7728" y="2651760"/>
            <a:ext cx="1755648" cy="347472"/>
          </a:xfrm>
          <a:prstGeom prst="rect">
            <a:avLst/>
          </a:prstGeom>
          <a:solidFill>
            <a:srgbClr val="0A001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265176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not correct: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0600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 runs till player dies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67728" y="3154680"/>
            <a:ext cx="1755648" cy="347472"/>
          </a:xfrm>
          <a:prstGeom prst="rect">
            <a:avLst/>
          </a:prstGeom>
          <a:solidFill>
            <a:srgbClr val="0A001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315468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lives &gt; 0: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36301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Wait till water boils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67728" y="3657600"/>
            <a:ext cx="1755648" cy="347472"/>
          </a:xfrm>
          <a:prstGeom prst="rect">
            <a:avLst/>
          </a:prstGeom>
          <a:solidFill>
            <a:srgbClr val="0A001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365760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temp &lt; 100: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0600" y="413308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Add money till goal met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67728" y="4160520"/>
            <a:ext cx="1755648" cy="347472"/>
          </a:xfrm>
          <a:prstGeom prst="rect">
            <a:avLst/>
          </a:prstGeom>
          <a:solidFill>
            <a:srgbClr val="0A001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416052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savings &lt; goal: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21262D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38912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Golden Rule: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count or sequence? → FOR.   Unknown count or waiting for condition? → WHILE.   When in doubt? → FOR usually wins 😄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break, continue, pass — Loop Control Keywords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3 keywords give you superpowers inside loops. Use them wisely! 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88920" cy="3493008"/>
          </a:xfrm>
          <a:prstGeom prst="rect">
            <a:avLst/>
          </a:prstGeom>
          <a:solidFill>
            <a:srgbClr val="21262D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8892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173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🛑  break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" y="194767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EXITS the loop — like emergency stop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3317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Like pulling the emergency chain in a train!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724912"/>
            <a:ext cx="2606040" cy="1938528"/>
          </a:xfrm>
          <a:prstGeom prst="rect">
            <a:avLst/>
          </a:prstGeom>
          <a:solidFill>
            <a:srgbClr val="04040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79776"/>
            <a:ext cx="2450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range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== 5: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0 1 2 3 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Stops at 5!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64408" y="1417320"/>
            <a:ext cx="2788920" cy="3493008"/>
          </a:xfrm>
          <a:prstGeom prst="rect">
            <a:avLst/>
          </a:prstGeom>
          <a:solidFill>
            <a:srgbClr val="21262D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417320"/>
            <a:ext cx="2788920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4173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⏭️  continue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74136" y="194767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current iteration — jumps to next loop round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4136" y="23317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Like skipping ads on YouTube!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55848" y="2724912"/>
            <a:ext cx="2606040" cy="1938528"/>
          </a:xfrm>
          <a:prstGeom prst="rect">
            <a:avLst/>
          </a:prstGeom>
          <a:solidFill>
            <a:srgbClr val="04040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779776"/>
            <a:ext cx="2450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range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== 3: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0 1 2 4 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Skips 3!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08776" y="1417320"/>
            <a:ext cx="2788920" cy="3493008"/>
          </a:xfrm>
          <a:prstGeom prst="rect">
            <a:avLst/>
          </a:prstGeom>
          <a:solidFill>
            <a:srgbClr val="21262D"/>
          </a:solidFill>
          <a:ln w="19050">
            <a:solidFill>
              <a:srgbClr val="8B949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1417320"/>
            <a:ext cx="2788920" cy="4754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4173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🤫  pass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18504" y="194767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NOTHING — placeholder for future code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18504" y="23317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Like saying 'pass' in class when teacher asks a question!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0216" y="2724912"/>
            <a:ext cx="2606040" cy="1938528"/>
          </a:xfrm>
          <a:prstGeom prst="rect">
            <a:avLst/>
          </a:prstGeom>
          <a:solidFill>
            <a:srgbClr val="040404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2779776"/>
            <a:ext cx="2450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range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== 2: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0 1 2 3 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print (pass=nothing)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1A000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8912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DANGER: Infinite Loop!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True: print('HELP')  ← This NEVER stops! Always make sure your WHILE condition can become False!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Nested Loops — Loop Inside a Loop!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dream inside a dream... but way less confusing than Inception 🎬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594360"/>
          </a:xfrm>
          <a:prstGeom prst="rect">
            <a:avLst/>
          </a:prstGeom>
          <a:solidFill>
            <a:srgbClr val="1A001A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91440" cy="594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63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Loop is a loop INSIDE another loop. The inner loop runs COMPLETELY for each iteration of the outer loop.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4023360" cy="1463040"/>
          </a:xfrm>
          <a:prstGeom prst="rect">
            <a:avLst/>
          </a:prstGeom>
          <a:solidFill>
            <a:srgbClr val="1A0010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48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Analogy: School Assembly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loop = Each ROW of students (1 to 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loop = Each STUDENT in that row (1 to 6)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row → count EVERY student in it!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98848" y="2103120"/>
            <a:ext cx="4325112" cy="1463040"/>
          </a:xfrm>
          <a:prstGeom prst="rect">
            <a:avLst/>
          </a:prstGeom>
          <a:solidFill>
            <a:srgbClr val="050A10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0288" y="2148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Multiplication Table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542032"/>
            <a:ext cx="4178808" cy="987552"/>
          </a:xfrm>
          <a:prstGeom prst="rect">
            <a:avLst/>
          </a:prstGeom>
          <a:solidFill>
            <a:srgbClr val="02040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596896"/>
            <a:ext cx="4023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range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4):  </a:t>
            </a:r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rows 1,2,3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range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4):  </a:t>
            </a:r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cols 1,2,3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(i*j, end=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"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4023360" cy="1261872"/>
          </a:xfrm>
          <a:prstGeom prst="rect">
            <a:avLst/>
          </a:prstGeom>
          <a:solidFill>
            <a:srgbClr val="060006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694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Output — 3×3 Multiplication Table: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4005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1  2  3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2  4  6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4553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3  6  9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98848" y="3657600"/>
            <a:ext cx="4325112" cy="1261872"/>
          </a:xfrm>
          <a:prstGeom prst="rect">
            <a:avLst/>
          </a:prstGeom>
          <a:solidFill>
            <a:srgbClr val="050A0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90288" y="36941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How the iterations work: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0288" y="4005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i=1: j runs 1,2,3 → prints 1  2  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90288" y="4279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i=2: j runs 1,2,3 → prints 2  4  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90288" y="4553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i=3: j runs 1,2,3 → prints 3  6  9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Practice Time! — 4 Exercises (Try Before Peeking!)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your eyes, open your brain 🧠 Try each one. The answer slide is next!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51960" cy="1755648"/>
          </a:xfrm>
          <a:prstGeom prst="rect">
            <a:avLst/>
          </a:prstGeom>
          <a:solidFill>
            <a:srgbClr val="21262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425196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72184"/>
            <a:ext cx="310896" cy="310896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" y="1490472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4904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1 to 10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39312" y="1472184"/>
            <a:ext cx="804672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14721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Easy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1892808"/>
            <a:ext cx="40416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FOR loop to print all numbers from 1 to 10.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15768"/>
            <a:ext cx="4078224" cy="384048"/>
          </a:xfrm>
          <a:prstGeom prst="rect">
            <a:avLst/>
          </a:prstGeom>
          <a:solidFill>
            <a:srgbClr val="06060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340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range(1, 11)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18304" y="1417320"/>
            <a:ext cx="4251960" cy="1755648"/>
          </a:xfrm>
          <a:prstGeom prst="rect">
            <a:avLst/>
          </a:prstGeom>
          <a:solidFill>
            <a:srgbClr val="21262D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18304" y="1417320"/>
            <a:ext cx="425196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9744" y="1472184"/>
            <a:ext cx="310896" cy="310896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1472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1490472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4904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72784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List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83296" y="1472184"/>
            <a:ext cx="804672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14721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Medium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1892808"/>
            <a:ext cx="40416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marks = [85, 92, 78, 96, 88]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FOR loop to calculate and print the total marks.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9744" y="2715768"/>
            <a:ext cx="4078224" cy="384048"/>
          </a:xfrm>
          <a:prstGeom prst="rect">
            <a:avLst/>
          </a:prstGeom>
          <a:solidFill>
            <a:srgbClr val="06060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7340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total = 0 → total += each mark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" y="3319272"/>
            <a:ext cx="4251960" cy="1755648"/>
          </a:xfrm>
          <a:prstGeom prst="rect">
            <a:avLst/>
          </a:prstGeom>
          <a:solidFill>
            <a:srgbClr val="21262D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319272"/>
            <a:ext cx="425196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374136"/>
            <a:ext cx="310896" cy="310896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8096" y="3392424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" y="33924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Countdown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39312" y="3374136"/>
            <a:ext cx="804672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3374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 Medium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84048" y="3794760"/>
            <a:ext cx="40416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WHILE loop to count down from 10 to 1, then print 'Happy New Year! 🎉'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617720"/>
            <a:ext cx="4078224" cy="384048"/>
          </a:xfrm>
          <a:prstGeom prst="rect">
            <a:avLst/>
          </a:prstGeom>
          <a:solidFill>
            <a:srgbClr val="060606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36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count = 10, while count &gt;= 1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718304" y="3319272"/>
            <a:ext cx="4251960" cy="1755648"/>
          </a:xfrm>
          <a:prstGeom prst="rect">
            <a:avLst/>
          </a:prstGeom>
          <a:solidFill>
            <a:srgbClr val="21262D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18304" y="3319272"/>
            <a:ext cx="425196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9744" y="3374136"/>
            <a:ext cx="310896" cy="310896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9744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12080" y="3392424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0D111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3924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+ continue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72784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Multiples of 3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083296" y="3374136"/>
            <a:ext cx="804672" cy="27432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83296" y="33741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 Hard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28032" y="3794760"/>
            <a:ext cx="40416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numbers 1 to 15 but SKIP any number divisible by 3 using continue.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09744" y="4617720"/>
            <a:ext cx="4078224" cy="384048"/>
          </a:xfrm>
          <a:prstGeom prst="rect">
            <a:avLst/>
          </a:prstGeom>
          <a:solidFill>
            <a:srgbClr val="060606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01184" y="46360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if num % 3 == 0: continue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Practice Answers — Check Your Work!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cheat... or do. We're not your teacher 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84832" cy="3493008"/>
          </a:xfrm>
          <a:prstGeom prst="rect">
            <a:avLst/>
          </a:prstGeom>
          <a:solidFill>
            <a:srgbClr val="091500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2084832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17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 1 — 1 to 10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188366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11):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
</a:t>
            </a:r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6 7 8 9 10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1417320"/>
            <a:ext cx="2084832" cy="3493008"/>
          </a:xfrm>
          <a:prstGeom prst="rect">
            <a:avLst/>
          </a:prstGeom>
          <a:solidFill>
            <a:srgbClr val="15100A"/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417320"/>
            <a:ext cx="2084832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1417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 2 — Sum Marks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88366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[85,92,
  78,96,88]
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</a:t>
            </a:r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marks:
  total += m
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439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18304" y="1417320"/>
            <a:ext cx="2084832" cy="3493008"/>
          </a:xfrm>
          <a:prstGeom prst="rect">
            <a:avLst/>
          </a:prstGeom>
          <a:solidFill>
            <a:srgbClr val="0A0015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1417320"/>
            <a:ext cx="2084832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4173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 3 — Countdown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1828800"/>
            <a:ext cx="188366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
</a:t>
            </a:r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&gt;= </a:t>
            </a:r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-=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pPr indent="0" marL="0">
              <a:buNone/>
            </a:pPr>
            <a:r>
              <a:rPr lang="en-US" sz="11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("Happy
  New Year 🎉")
</a:t>
            </a:r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 9 8...1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Happy New Year!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0296" y="1417320"/>
            <a:ext cx="1938528" cy="3493008"/>
          </a:xfrm>
          <a:prstGeom prst="rect">
            <a:avLst/>
          </a:prstGeom>
          <a:solidFill>
            <a:srgbClr val="150010"/>
          </a:solidFill>
          <a:ln w="19050">
            <a:solidFill>
              <a:srgbClr val="EC489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0296" y="1417320"/>
            <a:ext cx="1938528" cy="3474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Ans 4 — Skip /3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1828800"/>
            <a:ext cx="176479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(1,16):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n%3==0: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
</a:t>
            </a:r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1 2 4 5 7 8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10 11 13 14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0F00"/>
          </a:solidFill>
          <a:ln w="12700">
            <a:solidFill>
              <a:srgbClr val="090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Python Loops — The Ultimate Cheat Sheet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251960" cy="3877056"/>
          </a:xfrm>
          <a:prstGeom prst="rect">
            <a:avLst/>
          </a:prstGeom>
          <a:solidFill>
            <a:srgbClr val="150A00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425196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1572768"/>
            <a:ext cx="40233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FOR
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[1,2,3]: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
</a:t>
            </a:r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range()
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(5):  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0-4
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(1,6): 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1-5
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(0,10,2):</a:t>
            </a:r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3246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Know exact count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36484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Loop over list/string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" y="40507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range() counting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4048" y="4453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Unknown count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Golgappaas on a plate — you know the count!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4206240" cy="3877056"/>
          </a:xfrm>
          <a:prstGeom prst="rect">
            <a:avLst/>
          </a:prstGeom>
          <a:solidFill>
            <a:srgbClr val="150A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15568"/>
            <a:ext cx="4206240" cy="4114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115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WHILE Loop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73168" y="1572768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
</a:t>
            </a:r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 5: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+=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
</a:t>
            </a:r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 </a:t>
            </a:r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...  </a:t>
            </a:r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73168" y="305409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Don't know exact count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34198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Waiting for event/input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378561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Condition-based loops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415137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Risk of infinite loop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4572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Eating until full — you never know how many bites!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90195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65192"/>
            <a:ext cx="8595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exit loop   |   </a:t>
            </a:r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skip iteration   |   </a:t>
            </a:r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do nothing   |   🐍 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Looping!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Loops - For &amp; While</dc:title>
  <dc:subject>PptxGenJS Presentation</dc:subject>
  <dc:creator>PptxGenJS</dc:creator>
  <cp:lastModifiedBy>PptxGenJS</cp:lastModifiedBy>
  <cp:revision>1</cp:revision>
  <dcterms:created xsi:type="dcterms:W3CDTF">2026-03-21T07:24:50Z</dcterms:created>
  <dcterms:modified xsi:type="dcterms:W3CDTF">2026-03-21T07:24:50Z</dcterms:modified>
</cp:coreProperties>
</file>